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c6668d3e574c19" /><Relationship Type="http://schemas.openxmlformats.org/officeDocument/2006/relationships/extended-properties" Target="/docProps/app.xml" Id="R9f4013bebba34447" /><Relationship Type="http://schemas.openxmlformats.org/officeDocument/2006/relationships/officeDocument" Target="/ppt/presentation.xml" Id="Rc926148c7a3b4387" /></Relationships>
</file>

<file path=ppt/presentation.xml><?xml version="1.0" encoding="utf-8"?>
<p:presentation xmlns:p="http://schemas.openxmlformats.org/presentationml/2006/main">
  <p:sldMasterIdLst>
    <p:sldMasterId xmlns:r="http://schemas.openxmlformats.org/officeDocument/2006/relationships" id="2147483648" r:id="R5fc52acea8824011"/>
  </p:sldMasterIdLst>
  <p:notesMasterIdLst>
    <p:notesMasterId xmlns:r="http://schemas.openxmlformats.org/officeDocument/2006/relationships" r:id="R4faea8aa1bed440e"/>
  </p:notesMasterIdLst>
  <p:sldIdLst>
    <p:sldId xmlns:r="http://schemas.openxmlformats.org/officeDocument/2006/relationships" id="256" r:id="Re76cdba344b9427e"/>
    <p:sldId xmlns:r="http://schemas.openxmlformats.org/officeDocument/2006/relationships" id="257" r:id="R0a2bde40e7a047d9"/>
    <p:sldId xmlns:r="http://schemas.openxmlformats.org/officeDocument/2006/relationships" id="258" r:id="R8f77f6acb84c494b"/>
    <p:sldId xmlns:r="http://schemas.openxmlformats.org/officeDocument/2006/relationships" id="259" r:id="Rbac52ff41fcb4d88"/>
    <p:sldId xmlns:r="http://schemas.openxmlformats.org/officeDocument/2006/relationships" id="260" r:id="R7cba3410502e4d59"/>
    <p:sldId xmlns:r="http://schemas.openxmlformats.org/officeDocument/2006/relationships" id="261" r:id="Re5067a2754ce465c"/>
    <p:sldId xmlns:r="http://schemas.openxmlformats.org/officeDocument/2006/relationships" id="262" r:id="R73be15163c4d4e22"/>
    <p:sldId xmlns:r="http://schemas.openxmlformats.org/officeDocument/2006/relationships" id="263" r:id="R2b6f1b31bc4748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ea2451e2ac4137" /><Relationship Type="http://schemas.openxmlformats.org/officeDocument/2006/relationships/slideMaster" Target="/ppt/slideMasters/slideMaster1.xml" Id="R5fc52acea8824011" /><Relationship Type="http://schemas.openxmlformats.org/officeDocument/2006/relationships/notesMaster" Target="/ppt/notesMasters/notesMaster1.xml" Id="R4faea8aa1bed440e" /><Relationship Type="http://schemas.openxmlformats.org/officeDocument/2006/relationships/presProps" Target="/ppt/presProps.xml" Id="R7e4b0fcb2c074362" /><Relationship Type="http://schemas.openxmlformats.org/officeDocument/2006/relationships/tableStyles" Target="/ppt/tableStyles.xml" Id="Reeefa4ca9f6b424f" /><Relationship Type="http://schemas.openxmlformats.org/officeDocument/2006/relationships/slide" Target="/ppt/slides/slide1.xml" Id="Re76cdba344b9427e" /><Relationship Type="http://schemas.openxmlformats.org/officeDocument/2006/relationships/slide" Target="/ppt/slides/slide2.xml" Id="R0a2bde40e7a047d9" /><Relationship Type="http://schemas.openxmlformats.org/officeDocument/2006/relationships/slide" Target="/ppt/slides/slide3.xml" Id="R8f77f6acb84c494b" /><Relationship Type="http://schemas.openxmlformats.org/officeDocument/2006/relationships/slide" Target="/ppt/slides/slide4.xml" Id="Rbac52ff41fcb4d88" /><Relationship Type="http://schemas.openxmlformats.org/officeDocument/2006/relationships/slide" Target="/ppt/slides/slide5.xml" Id="R7cba3410502e4d59" /><Relationship Type="http://schemas.openxmlformats.org/officeDocument/2006/relationships/slide" Target="/ppt/slides/slide6.xml" Id="Re5067a2754ce465c" /><Relationship Type="http://schemas.openxmlformats.org/officeDocument/2006/relationships/slide" Target="/ppt/slides/slide7.xml" Id="R73be15163c4d4e22" /><Relationship Type="http://schemas.openxmlformats.org/officeDocument/2006/relationships/slide" Target="/ppt/slides/slide8.xml" Id="R2b6f1b31bc4748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e53533db8548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d3bad2031143fc" /><Relationship Type="http://schemas.openxmlformats.org/officeDocument/2006/relationships/notesMaster" Target="/ppt/notesMasters/notesMaster1.xml" Id="R3276dd7d999245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66042cca1d42d1" /><Relationship Type="http://schemas.openxmlformats.org/officeDocument/2006/relationships/notesMaster" Target="/ppt/notesMasters/notesMaster1.xml" Id="R0feadb1765b748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0bf9f4f9e744ff" /><Relationship Type="http://schemas.openxmlformats.org/officeDocument/2006/relationships/notesMaster" Target="/ppt/notesMasters/notesMaster1.xml" Id="R6be987850deb41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22e3111cdf4a44" /><Relationship Type="http://schemas.openxmlformats.org/officeDocument/2006/relationships/notesMaster" Target="/ppt/notesMasters/notesMaster1.xml" Id="Rd40ba8220c6343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eae4be3ebd4c71" /><Relationship Type="http://schemas.openxmlformats.org/officeDocument/2006/relationships/notesMaster" Target="/ppt/notesMasters/notesMaster1.xml" Id="Reec866fa5d004d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f5fe676d674510" /><Relationship Type="http://schemas.openxmlformats.org/officeDocument/2006/relationships/notesMaster" Target="/ppt/notesMasters/notesMaster1.xml" Id="R05018984748f4d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17ac7fa34244a4" /><Relationship Type="http://schemas.openxmlformats.org/officeDocument/2006/relationships/notesMaster" Target="/ppt/notesMasters/notesMaster1.xml" Id="Rf52ae46a446748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41b392217e45b4" /><Relationship Type="http://schemas.openxmlformats.org/officeDocument/2006/relationships/notesMaster" Target="/ppt/notesMasters/notesMaster1.xml" Id="R13957dfccde64f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
            </a:r>
          </a:p>
          <a:p xmlns:a="http://schemas.openxmlformats.org/drawingml/2006/main">
            <a:r>
              <a:t>Opening: Today I will walk through how we populate the FBN and GMR transaction tables, compare them, and expose reconciliation results in Power BI. The scope includes ATG views, persistent tables, comparison views, recurring schedulers, and the report. GMR writeback is the existing process. The reconciliation components are work in progress. Explain the intended architecture and demonstrate only currently available functionality. Spend 30 seconds here, then move to the architecture.</a:t>
            </a:r>
          </a:p>
          <a:p xmlns:a="http://schemas.openxmlformats.org/drawingml/2006/main">
            <a:r>
              <a:t/>
            </a:r>
          </a:p>
          <a:p xmlns:a="http://schemas.openxmlformats.org/drawingml/2006/main">
            <a:r>
              <a:t>Source: reconciliation workflow supplied by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a:t>
            </a:r>
          </a:p>
          <a:p xmlns:a="http://schemas.openxmlformats.org/drawingml/2006/main">
            <a:r>
              <a:t/>
            </a:r>
          </a:p>
          <a:p xmlns:a="http://schemas.openxmlformats.org/drawingml/2006/main">
            <a:r>
              <a:t>Read the diagram from left to right. The writeback catalogue supplies the definitions cloned into GMR_ATG_TRN, including ATG derived properties. This is a configuration relationship, not a transaction stream. The FBN scheduler repeatedly executes the ATG views and inserts their output into FBN_TRN. Independently, the existing writeback process inserts or updates GMR_TRN. Recon views compare these two physical inputs. The Recon scheduler executes the comparison views and inserts their output into RECON_ATG_TRN. Power BI reads this persisted result. Solid connectors represent data movement. Dashed connectors represent configuration or execution. The source behind the ATG view is not specified and is therefore not invented. Despite its GMR prefix, GMR_ATG_TRN feeds the FBN path in the supplied workflow.</a:t>
            </a:r>
          </a:p>
          <a:p xmlns:a="http://schemas.openxmlformats.org/drawingml/2006/main">
            <a:r>
              <a:t/>
            </a:r>
          </a:p>
          <a:p xmlns:a="http://schemas.openxmlformats.org/drawingml/2006/main">
            <a:r>
              <a:t>Source: reconciliation workflow supplied by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
            </a:r>
          </a:p>
          <a:p xmlns:a="http://schemas.openxmlformats.org/drawingml/2006/main">
            <a:r>
              <a:t>Explain the preparation step first: clone the writeback catalogue definitions to create the ATG views named GMR_ATG_TRN and include the ATG derived properties. These properties are part of the view output available for reconciliation. Explain the runtime step next: the FBN scheduler repeatedly executes the ATG views and inserts rows into the FBN_TRN physical tables. The catalogue cloning is a setup activity, while scheduler execution is recurring. Avoid naming an interval or calling this real time until the actual schedule is confirmed. Discuss how catalogue changes and derived property changes are kept consistent. Confirm the incremental or full load strategy and duplicate handling before making claims about them.</a:t>
            </a:r>
          </a:p>
          <a:p xmlns:a="http://schemas.openxmlformats.org/drawingml/2006/main">
            <a:r>
              <a:t/>
            </a:r>
          </a:p>
          <a:p xmlns:a="http://schemas.openxmlformats.org/drawingml/2006/main">
            <a:r>
              <a:t>Source: reconciliation workflow supplied by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
            </a:r>
          </a:p>
          <a:p xmlns:a="http://schemas.openxmlformats.org/drawingml/2006/main">
            <a:r>
              <a:t>The three physical table groups separate the two comparison inputs from the persisted results. FBN_TRN stores output loaded by the FBN scheduler. GMR_TRN stores the records inserted or updated by the existing writeback process. RECON_ATG_TRN stores the results inserted by the Recon scheduler. This means the reporting layer reads the stored reconciliation output. The report covers transaction tables such as TRN_HDR, TRN_CASH_POST, and TRN_TRD. These names are logical groups as provided, not asserted database schemas or deployment boundaries.</a:t>
            </a:r>
          </a:p>
          <a:p xmlns:a="http://schemas.openxmlformats.org/drawingml/2006/main">
            <a:r>
              <a:t/>
            </a:r>
          </a:p>
          <a:p xmlns:a="http://schemas.openxmlformats.org/drawingml/2006/main">
            <a:r>
              <a:t>Source: reconciliation workflow supplied by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a:t>
            </a:r>
          </a:p>
          <a:p xmlns:a="http://schemas.openxmlformats.org/drawingml/2006/main">
            <a:r>
              <a:t/>
            </a:r>
          </a:p>
          <a:p xmlns:a="http://schemas.openxmlformats.org/drawingml/2006/main">
            <a:r>
              <a:t>Recon views compare the FBN_TRN and GMR_TRN physical tables and produce MATCHED, MISMATCHED, and MISSING results. The descriptions on this slide are conceptual definitions: MATCHED means a corresponding record exists on both sides and the compared values agree. MISMATCHED means a corresponding record exists on both sides but at least one compared value differs. MISSING means a record exists on only one side. Confirm whether the current implementation checks missing records in both directions. The actual business keys, compared columns, null handling, rounding, and tolerance rules are not supplied. Describe the rules in your implementation rather than implying exact equality for every field. Records need a comparable load window to avoid temporary missing results caused by timing.</a:t>
            </a:r>
          </a:p>
          <a:p xmlns:a="http://schemas.openxmlformats.org/drawingml/2006/main">
            <a:r>
              <a:t/>
            </a:r>
          </a:p>
          <a:p xmlns:a="http://schemas.openxmlformats.org/drawingml/2006/main">
            <a:r>
              <a:t>Source: reconciliation workflow supplied by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
            </a:r>
          </a:p>
          <a:p xmlns:a="http://schemas.openxmlformats.org/drawingml/2006/main">
            <a:r>
              <a:t>The recurring Recon scheduler executes the Recon views, obtains classified results, and inserts them into RECON_ATG_TRN. Power BI then reads that physical table. Explain the separation between comparison logic in the views and recurring execution in the scheduler. The exact frequency, readiness dependency on FBN and GMR, failure handling, and history or replacement behavior are unspecified. Present these as operational discussion points. A continuously recurring job does not by itself guarantee real-time report freshness. Report freshness also depends on the data loading and Power BI connection or refresh mode.</a:t>
            </a:r>
          </a:p>
          <a:p xmlns:a="http://schemas.openxmlformats.org/drawingml/2006/main">
            <a:r>
              <a:t/>
            </a:r>
          </a:p>
          <a:p xmlns:a="http://schemas.openxmlformats.org/drawingml/2006/main">
            <a:r>
              <a:t>Source: reconciliation workflow supplied by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4:00</a:t>
            </a:r>
          </a:p>
          <a:p xmlns:a="http://schemas.openxmlformats.org/drawingml/2006/main">
            <a:r>
              <a:t/>
            </a:r>
          </a:p>
          <a:p xmlns:a="http://schemas.openxmlformats.org/drawingml/2006/main">
            <a:r>
              <a:t>Transition: Now I will trace this architecture in the actual reconciliation report. Use one prepared transaction and an available completed run. First 30 seconds: show the Recon ATG report and identify RECON_ATG_TRN as its source. Next 45 seconds: show coverage for TRN_HDR, TRN_CASH_POST, and TRN_TRD using the pages or filters that actually exist. Next 60 seconds: show a MATCHED example and explain why the compared values agree. Next 60 seconds: show a MISMATCHED example and identify one differing field, then show a MISSING example and identify the absent side if the report exposes it. Final 45 seconds: trace the chosen record back to the physical input tables and describe its scheduler run or load window using available evidence. These are demo suggestions, not claims that every drill-through or filter already exists. Use prepared screenshots if the live environment is unavailable. Avoid triggering a long-running job during the four-minute demo.</a:t>
            </a:r>
          </a:p>
          <a:p xmlns:a="http://schemas.openxmlformats.org/drawingml/2006/main">
            <a:r>
              <a:t/>
            </a:r>
          </a:p>
          <a:p xmlns:a="http://schemas.openxmlformats.org/drawingml/2006/main">
            <a:r>
              <a:t>Source: reconciliation workflow supplied by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
            </a:r>
          </a:p>
          <a:p xmlns:a="http://schemas.openxmlformats.org/drawingml/2006/main">
            <a:r>
              <a:t>Close in 30 seconds: The ATG views and FBN scheduler supply one side of reconciliation. Existing GMR writeback supplies the other. Recon views classify differences, the Recon scheduler persists results, and Power BI makes those results visible by transaction table. Use the remaining minute for team questions. If asked about matching keys, interval, tolerance, refresh, or reruns, use the actual implementation details and do not invent a value. Suggested follow-up questions include who owns catalogue changes, how to distinguish an actual missing record from delayed loading, and what the operating procedure is for failed scheduler runs. No performance metrics or implementation completion claims have been assumed.</a:t>
            </a:r>
          </a:p>
          <a:p xmlns:a="http://schemas.openxmlformats.org/drawingml/2006/main">
            <a:r>
              <a:t/>
            </a:r>
          </a:p>
          <a:p xmlns:a="http://schemas.openxmlformats.org/drawingml/2006/main">
            <a:r>
              <a:t>Source: reconciliation workflow supplied by the presenter.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d6a22d3c1b4d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748af59ffa4e70" /><Relationship Type="http://schemas.openxmlformats.org/officeDocument/2006/relationships/slideLayout" Target="/ppt/slideLayouts/slideLayout1.xml" Id="R85922c2cf2f844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922c2cf2f844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022b2694dd419b" /><Relationship Type="http://schemas.openxmlformats.org/officeDocument/2006/relationships/notesSlide" Target="/ppt/notesSlides/notesSlide1.xml" Id="Rf1f26b16a8ac4b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cdccb5447384391" /><Relationship Type="http://schemas.openxmlformats.org/officeDocument/2006/relationships/notesSlide" Target="/ppt/notesSlides/notesSlide2.xml" Id="R4dfa4b16b06042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a3ad896a014d2a" /><Relationship Type="http://schemas.openxmlformats.org/officeDocument/2006/relationships/notesSlide" Target="/ppt/notesSlides/notesSlide3.xml" Id="R381fe6ee5af94e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dd058620c14b4a" /><Relationship Type="http://schemas.openxmlformats.org/officeDocument/2006/relationships/notesSlide" Target="/ppt/notesSlides/notesSlide4.xml" Id="R9590e2a7e6434c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585903eed84cf2" /><Relationship Type="http://schemas.openxmlformats.org/officeDocument/2006/relationships/notesSlide" Target="/ppt/notesSlides/notesSlide5.xml" Id="R52e035f5abc148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6c80ba1b564934" /><Relationship Type="http://schemas.openxmlformats.org/officeDocument/2006/relationships/notesSlide" Target="/ppt/notesSlides/notesSlide6.xml" Id="R22689a9a519c4b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64a8335c5a4c23" /><Relationship Type="http://schemas.openxmlformats.org/officeDocument/2006/relationships/notesSlide" Target="/ppt/notesSlides/notesSlide7.xml" Id="R84d877b91ba042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a1d07bcaf34762" /><Relationship Type="http://schemas.openxmlformats.org/officeDocument/2006/relationships/notesSlide" Target="/ppt/notesSlides/notesSlide8.xml" Id="Ra0f1b58e8c4444c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6F4B9F-E843-47F2-941C-930961435BF1}"/>
              </a:ext>
            </a:extLst>
          </p:cNvPr>
          <p:cNvSpPr>
            <a:spLocks xmlns:a="http://schemas.openxmlformats.org/drawingml/2006/main" noGrp="1"/>
          </p:cNvSpPr>
          <p:nvPr/>
        </p:nvSpPr>
        <p:spPr>
          <a:xfrm xmlns:a="http://schemas.openxmlformats.org/drawingml/2006/main">
            <a:off x="6096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3"/>
                </a:solidFill>
                <a:latin typeface="Arial"/>
                <a:ea typeface="Arial"/>
                <a:cs typeface="Arial"/>
              </a:defRPr>
            </a:pPr>
            <a:r>
              <a:rPr sz="3300" b="1">
                <a:solidFill>
                  <a:srgbClr val="142D43"/>
                </a:solidFill>
                <a:latin typeface="Arial"/>
                <a:ea typeface="Arial"/>
                <a:cs typeface="Arial"/>
              </a:rPr>
              <a:t>Reconciliation architecture and data flow</a:t>
            </a:r>
          </a:p>
        </p:txBody>
      </p:sp>
      <p:sp>
        <p:nvSpPr>
          <p:cNvPr id="2" name="">
            <a:extLst xmlns:a="http://schemas.openxmlformats.org/drawingml/2006/main">
              <a:ext uri="{FF2B5EF4-FFF2-40B4-BE49-F238E27FC236}">
                <a16:creationId xmlns:a16="http://schemas.microsoft.com/office/drawing/2014/main" id="{640EA612-515C-4B53-8D92-E6421765EACA}"/>
              </a:ext>
            </a:extLst>
          </p:cNvPr>
          <p:cNvSpPr>
            <a:spLocks xmlns:a="http://schemas.openxmlformats.org/drawingml/2006/main" noGrp="1"/>
          </p:cNvSpPr>
          <p:nvPr/>
        </p:nvSpPr>
        <p:spPr>
          <a:xfrm xmlns:a="http://schemas.openxmlformats.org/drawingml/2006/main">
            <a:off x="11144250" y="6315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D946F07-3D1C-438F-8ACA-076A9F66EF19}"/>
              </a:ext>
            </a:extLst>
          </p:cNvPr>
          <p:cNvSpPr>
            <a:spLocks xmlns:a="http://schemas.openxmlformats.org/drawingml/2006/main" noGrp="1"/>
          </p:cNvSpPr>
          <p:nvPr/>
        </p:nvSpPr>
        <p:spPr>
          <a:xfrm xmlns:a="http://schemas.openxmlformats.org/drawingml/2006/main">
            <a:off x="647700" y="180975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469A2"/>
                </a:solidFill>
                <a:latin typeface="Arial"/>
                <a:ea typeface="Arial"/>
                <a:cs typeface="Arial"/>
              </a:defRPr>
            </a:pPr>
            <a:r>
              <a:rPr sz="4200" b="1">
                <a:solidFill>
                  <a:srgbClr val="1469A2"/>
                </a:solidFill>
                <a:latin typeface="Arial"/>
                <a:ea typeface="Arial"/>
                <a:cs typeface="Arial"/>
              </a:rPr>
              <a:t>FBN and GMR transaction reconciliation</a:t>
            </a:r>
          </a:p>
        </p:txBody>
      </p:sp>
      <p:sp>
        <p:nvSpPr>
          <p:cNvPr id="4" name="">
            <a:extLst xmlns:a="http://schemas.openxmlformats.org/drawingml/2006/main">
              <a:ext uri="{FF2B5EF4-FFF2-40B4-BE49-F238E27FC236}">
                <a16:creationId xmlns:a16="http://schemas.microsoft.com/office/drawing/2014/main" id="{54463041-639A-44D0-BA53-7EE5E5F0B24C}"/>
              </a:ext>
            </a:extLst>
          </p:cNvPr>
          <p:cNvSpPr>
            <a:spLocks xmlns:a="http://schemas.openxmlformats.org/drawingml/2006/main" noGrp="1"/>
          </p:cNvSpPr>
          <p:nvPr/>
        </p:nvSpPr>
        <p:spPr>
          <a:xfrm xmlns:a="http://schemas.openxmlformats.org/drawingml/2006/main">
            <a:off x="647700" y="32861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26575"/>
                </a:solidFill>
                <a:latin typeface="Arial"/>
                <a:ea typeface="Arial"/>
                <a:cs typeface="Arial"/>
              </a:defRPr>
            </a:pPr>
            <a:r>
              <a:rPr sz="2400" b="0">
                <a:solidFill>
                  <a:srgbClr val="526575"/>
                </a:solidFill>
                <a:latin typeface="Arial"/>
                <a:ea typeface="Arial"/>
                <a:cs typeface="Arial"/>
              </a:rPr>
              <a:t>Work in progress: ATG views, scheduling, and Power BI</a:t>
            </a:r>
          </a:p>
        </p:txBody>
      </p:sp>
      <p:sp>
        <p:nvSpPr>
          <p:cNvPr id="5" name="">
            <a:extLst xmlns:a="http://schemas.openxmlformats.org/drawingml/2006/main">
              <a:ext uri="{FF2B5EF4-FFF2-40B4-BE49-F238E27FC236}">
                <a16:creationId xmlns:a16="http://schemas.microsoft.com/office/drawing/2014/main" id="{1B4D5936-56FD-40E2-BCFF-1A4F461FCA0D}"/>
              </a:ext>
            </a:extLst>
          </p:cNvPr>
          <p:cNvSpPr>
            <a:spLocks xmlns:a="http://schemas.openxmlformats.org/drawingml/2006/main" noGrp="1"/>
          </p:cNvSpPr>
          <p:nvPr/>
        </p:nvSpPr>
        <p:spPr>
          <a:xfrm xmlns:a="http://schemas.openxmlformats.org/drawingml/2006/main">
            <a:off x="647700" y="48196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Arial"/>
                <a:ea typeface="Arial"/>
                <a:cs typeface="Arial"/>
              </a:defRPr>
            </a:pPr>
            <a:r>
              <a:rPr sz="1800" b="1">
                <a:solidFill>
                  <a:srgbClr val="007F78"/>
                </a:solidFill>
                <a:latin typeface="Arial"/>
                <a:ea typeface="Arial"/>
                <a:cs typeface="Arial"/>
              </a:rPr>
              <a:t>Table coverage</a:t>
            </a:r>
          </a:p>
        </p:txBody>
      </p:sp>
      <p:sp>
        <p:nvSpPr>
          <p:cNvPr id="6" name="">
            <a:extLst xmlns:a="http://schemas.openxmlformats.org/drawingml/2006/main">
              <a:ext uri="{FF2B5EF4-FFF2-40B4-BE49-F238E27FC236}">
                <a16:creationId xmlns:a16="http://schemas.microsoft.com/office/drawing/2014/main" id="{81A5721A-CB24-47C4-83EF-E4A0920D0D20}"/>
              </a:ext>
            </a:extLst>
          </p:cNvPr>
          <p:cNvSpPr>
            <a:spLocks xmlns:a="http://schemas.openxmlformats.org/drawingml/2006/main" noGrp="1"/>
          </p:cNvSpPr>
          <p:nvPr/>
        </p:nvSpPr>
        <p:spPr>
          <a:xfrm xmlns:a="http://schemas.openxmlformats.org/drawingml/2006/main">
            <a:off x="647700" y="5314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D43"/>
                </a:solidFill>
                <a:latin typeface="Arial"/>
                <a:ea typeface="Arial"/>
                <a:cs typeface="Arial"/>
              </a:defRPr>
            </a:pPr>
            <a:r>
              <a:rPr sz="2400" b="0">
                <a:solidFill>
                  <a:srgbClr val="142D43"/>
                </a:solidFill>
                <a:latin typeface="Arial"/>
                <a:ea typeface="Arial"/>
                <a:cs typeface="Arial"/>
              </a:rPr>
              <a:t>TRN_HDR    /    TRN_CASH_POST    /    TRN_TRD</a:t>
            </a:r>
          </a:p>
        </p:txBody>
      </p:sp>
    </p:spTree>
    <p:extLst>
      <p:ext uri="{BB962C8B-B14F-4D97-AF65-F5344CB8AC3E}">
        <p14:creationId xmlns:p14="http://schemas.microsoft.com/office/powerpoint/2010/main" val="1698559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3" name=""/>
          <p:cNvCxnSpPr>
            <a:stCxn xmlns:a="http://schemas.openxmlformats.org/drawingml/2006/main" id="38" idx="0"/>
            <a:endCxn xmlns:a="http://schemas.openxmlformats.org/drawingml/2006/main" id="18" idx="2"/>
          </p:cNvCxnSpPr>
          <p:nvPr/>
        </p:nvCxnSpPr>
        <p:spPr>
          <a:xfrm xmlns:a="http://schemas.openxmlformats.org/drawingml/2006/main" flipV="1">
            <a:off x="9382125" y="5095875"/>
            <a:ext cx="0" cy="285750"/>
          </a:xfrm>
          <a:prstGeom xmlns:a="http://schemas.openxmlformats.org/drawingml/2006/main" prst="straightConnector1">
            <a:avLst/>
          </a:prstGeom>
          <a:ln xmlns:a="http://schemas.openxmlformats.org/drawingml/2006/main" w="19050">
            <a:solidFill>
              <a:srgbClr val="007F78"/>
            </a:solidFill>
            <a:prstDash val="dash"/>
            <a:tailEnd type="triangle" w="med" len="med"/>
          </a:ln>
        </p:spPr>
      </p:cxnSp>
      <p:cxnSp>
        <p:nvCxnSpPr>
          <p:cNvPr id="44" name=""/>
          <p:cNvCxnSpPr>
            <a:stCxn xmlns:a="http://schemas.openxmlformats.org/drawingml/2006/main" id="34" idx="2"/>
            <a:endCxn xmlns:a="http://schemas.openxmlformats.org/drawingml/2006/main" id="6" idx="3"/>
          </p:cNvCxnSpPr>
          <p:nvPr/>
        </p:nvCxnSpPr>
        <p:spPr>
          <a:xfrm xmlns:a="http://schemas.openxmlformats.org/drawingml/2006/main" flipH="1">
            <a:off x="3286125" y="2457450"/>
            <a:ext cx="2095500" cy="1185863"/>
          </a:xfrm>
          <a:prstGeom xmlns:a="http://schemas.openxmlformats.org/drawingml/2006/main" prst="bentConnector5">
            <a:avLst>
              <a:gd name="adj1" fmla="val 0"/>
              <a:gd name="adj2" fmla="val 19277"/>
              <a:gd name="adj3" fmla="val 89091"/>
            </a:avLst>
          </a:prstGeom>
          <a:ln xmlns:a="http://schemas.openxmlformats.org/drawingml/2006/main" w="19050">
            <a:solidFill>
              <a:srgbClr val="007F78"/>
            </a:solidFill>
            <a:prstDash val="dash"/>
            <a:tailEnd type="triangle" w="med" len="med"/>
          </a:ln>
        </p:spPr>
      </p:cxnSp>
      <p:cxnSp>
        <p:nvCxnSpPr>
          <p:cNvPr id="45" name=""/>
          <p:cNvCxnSpPr>
            <a:stCxn xmlns:a="http://schemas.openxmlformats.org/drawingml/2006/main" id="21" idx="0"/>
            <a:endCxn xmlns:a="http://schemas.openxmlformats.org/drawingml/2006/main" id="24" idx="2"/>
          </p:cNvCxnSpPr>
          <p:nvPr/>
        </p:nvCxnSpPr>
        <p:spPr>
          <a:xfrm xmlns:a="http://schemas.openxmlformats.org/drawingml/2006/main" flipV="1">
            <a:off x="9382125" y="2143125"/>
            <a:ext cx="0" cy="428625"/>
          </a:xfrm>
          <a:prstGeom xmlns:a="http://schemas.openxmlformats.org/drawingml/2006/main" prst="straightConnector1">
            <a:avLst/>
          </a:prstGeom>
          <a:ln xmlns:a="http://schemas.openxmlformats.org/drawingml/2006/main" w="19050">
            <a:solidFill>
              <a:srgbClr val="526575"/>
            </a:solidFill>
            <a:prstDash val="solid"/>
            <a:tailEnd type="triangle" w="med" len="med"/>
          </a:ln>
        </p:spPr>
      </p:cxnSp>
      <p:cxnSp>
        <p:nvCxnSpPr>
          <p:cNvPr id="46" name=""/>
          <p:cNvCxnSpPr>
            <a:stCxn xmlns:a="http://schemas.openxmlformats.org/drawingml/2006/main" id="18" idx="0"/>
            <a:endCxn xmlns:a="http://schemas.openxmlformats.org/drawingml/2006/main" id="21" idx="2"/>
          </p:cNvCxnSpPr>
          <p:nvPr/>
        </p:nvCxnSpPr>
        <p:spPr>
          <a:xfrm xmlns:a="http://schemas.openxmlformats.org/drawingml/2006/main" flipV="1">
            <a:off x="9382125" y="3571875"/>
            <a:ext cx="0" cy="523875"/>
          </a:xfrm>
          <a:prstGeom xmlns:a="http://schemas.openxmlformats.org/drawingml/2006/main" prst="straightConnector1">
            <a:avLst/>
          </a:prstGeom>
          <a:ln xmlns:a="http://schemas.openxmlformats.org/drawingml/2006/main" w="19050">
            <a:solidFill>
              <a:srgbClr val="526575"/>
            </a:solidFill>
            <a:prstDash val="solid"/>
            <a:tailEnd type="triangle" w="med" len="med"/>
          </a:ln>
        </p:spPr>
      </p:cxnSp>
      <p:cxnSp>
        <p:nvCxnSpPr>
          <p:cNvPr id="47" name=""/>
          <p:cNvCxnSpPr>
            <a:stCxn xmlns:a="http://schemas.openxmlformats.org/drawingml/2006/main" id="15" idx="3"/>
            <a:endCxn xmlns:a="http://schemas.openxmlformats.org/drawingml/2006/main" id="18" idx="1"/>
          </p:cNvCxnSpPr>
          <p:nvPr/>
        </p:nvCxnSpPr>
        <p:spPr>
          <a:xfrm xmlns:a="http://schemas.openxmlformats.org/drawingml/2006/main" flipV="1">
            <a:off x="6667500" y="4595813"/>
            <a:ext cx="1000125" cy="857250"/>
          </a:xfrm>
          <a:prstGeom xmlns:a="http://schemas.openxmlformats.org/drawingml/2006/main" prst="bentConnector3">
            <a:avLst>
              <a:gd name="adj1" fmla="val 50000"/>
            </a:avLst>
          </a:prstGeom>
          <a:ln xmlns:a="http://schemas.openxmlformats.org/drawingml/2006/main" w="19050">
            <a:solidFill>
              <a:srgbClr val="526575"/>
            </a:solidFill>
            <a:prstDash val="solid"/>
            <a:tailEnd type="triangle" w="med" len="med"/>
          </a:ln>
        </p:spPr>
      </p:cxnSp>
      <p:cxnSp>
        <p:nvCxnSpPr>
          <p:cNvPr id="48" name=""/>
          <p:cNvCxnSpPr>
            <a:stCxn xmlns:a="http://schemas.openxmlformats.org/drawingml/2006/main" id="9" idx="3"/>
            <a:endCxn xmlns:a="http://schemas.openxmlformats.org/drawingml/2006/main" id="18" idx="1"/>
          </p:cNvCxnSpPr>
          <p:nvPr/>
        </p:nvCxnSpPr>
        <p:spPr>
          <a:xfrm xmlns:a="http://schemas.openxmlformats.org/drawingml/2006/main">
            <a:off x="6667500" y="3643313"/>
            <a:ext cx="1000125" cy="952500"/>
          </a:xfrm>
          <a:prstGeom xmlns:a="http://schemas.openxmlformats.org/drawingml/2006/main" prst="bentConnector3">
            <a:avLst>
              <a:gd name="adj1" fmla="val 50000"/>
            </a:avLst>
          </a:prstGeom>
          <a:ln xmlns:a="http://schemas.openxmlformats.org/drawingml/2006/main" w="19050">
            <a:solidFill>
              <a:srgbClr val="526575"/>
            </a:solidFill>
            <a:prstDash val="solid"/>
            <a:tailEnd type="triangle" w="med" len="med"/>
          </a:ln>
        </p:spPr>
      </p:cxnSp>
      <p:cxnSp>
        <p:nvCxnSpPr>
          <p:cNvPr id="49" name=""/>
          <p:cNvCxnSpPr>
            <a:stCxn xmlns:a="http://schemas.openxmlformats.org/drawingml/2006/main" id="12" idx="3"/>
            <a:endCxn xmlns:a="http://schemas.openxmlformats.org/drawingml/2006/main" id="15" idx="1"/>
          </p:cNvCxnSpPr>
          <p:nvPr/>
        </p:nvCxnSpPr>
        <p:spPr>
          <a:xfrm xmlns:a="http://schemas.openxmlformats.org/drawingml/2006/main">
            <a:off x="3286125" y="5453063"/>
            <a:ext cx="809625" cy="0"/>
          </a:xfrm>
          <a:prstGeom xmlns:a="http://schemas.openxmlformats.org/drawingml/2006/main" prst="straightConnector1">
            <a:avLst/>
          </a:prstGeom>
          <a:ln xmlns:a="http://schemas.openxmlformats.org/drawingml/2006/main" w="19050">
            <a:solidFill>
              <a:srgbClr val="526575"/>
            </a:solidFill>
            <a:prstDash val="solid"/>
            <a:tailEnd type="triangle" w="med" len="med"/>
          </a:ln>
        </p:spPr>
      </p:cxnSp>
      <p:cxnSp>
        <p:nvCxnSpPr>
          <p:cNvPr id="50" name=""/>
          <p:cNvCxnSpPr>
            <a:stCxn xmlns:a="http://schemas.openxmlformats.org/drawingml/2006/main" id="6" idx="3"/>
            <a:endCxn xmlns:a="http://schemas.openxmlformats.org/drawingml/2006/main" id="9" idx="1"/>
          </p:cNvCxnSpPr>
          <p:nvPr/>
        </p:nvCxnSpPr>
        <p:spPr>
          <a:xfrm xmlns:a="http://schemas.openxmlformats.org/drawingml/2006/main">
            <a:off x="3286125" y="3643313"/>
            <a:ext cx="809625" cy="0"/>
          </a:xfrm>
          <a:prstGeom xmlns:a="http://schemas.openxmlformats.org/drawingml/2006/main" prst="straightConnector1">
            <a:avLst/>
          </a:prstGeom>
          <a:ln xmlns:a="http://schemas.openxmlformats.org/drawingml/2006/main" w="19050">
            <a:solidFill>
              <a:srgbClr val="526575"/>
            </a:solidFill>
            <a:prstDash val="solid"/>
            <a:tailEnd type="triangle" w="med" len="med"/>
          </a:ln>
        </p:spPr>
      </p:cxnSp>
      <p:cxnSp>
        <p:nvCxnSpPr>
          <p:cNvPr id="51" name=""/>
          <p:cNvCxnSpPr>
            <a:stCxn xmlns:a="http://schemas.openxmlformats.org/drawingml/2006/main" id="3" idx="2"/>
            <a:endCxn xmlns:a="http://schemas.openxmlformats.org/drawingml/2006/main" id="6" idx="0"/>
          </p:cNvCxnSpPr>
          <p:nvPr/>
        </p:nvCxnSpPr>
        <p:spPr>
          <a:xfrm xmlns:a="http://schemas.openxmlformats.org/drawingml/2006/main">
            <a:off x="1905000" y="2457450"/>
            <a:ext cx="0" cy="685800"/>
          </a:xfrm>
          <a:prstGeom xmlns:a="http://schemas.openxmlformats.org/drawingml/2006/main" prst="straightConnector1">
            <a:avLst/>
          </a:prstGeom>
          <a:ln xmlns:a="http://schemas.openxmlformats.org/drawingml/2006/main" w="19050">
            <a:solidFill>
              <a:srgbClr val="007F78"/>
            </a:solidFill>
            <a:prstDash val="dash"/>
            <a:tailEnd type="triangle" w="med" len="med"/>
          </a:ln>
        </p:spPr>
      </p:cxnSp>
      <p:sp>
        <p:nvSpPr>
          <p:cNvPr id="52" name="">
            <a:extLst xmlns:a="http://schemas.openxmlformats.org/drawingml/2006/main">
              <a:ext uri="{FF2B5EF4-FFF2-40B4-BE49-F238E27FC236}">
                <a16:creationId xmlns:a16="http://schemas.microsoft.com/office/drawing/2014/main" id="{ECE10671-7A98-4A69-8A60-B3128D4486BA}"/>
              </a:ext>
            </a:extLst>
          </p:cNvPr>
          <p:cNvSpPr>
            <a:spLocks xmlns:a="http://schemas.openxmlformats.org/drawingml/2006/main" noGrp="1"/>
          </p:cNvSpPr>
          <p:nvPr/>
        </p:nvSpPr>
        <p:spPr>
          <a:xfrm xmlns:a="http://schemas.openxmlformats.org/drawingml/2006/main">
            <a:off x="6096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3"/>
                </a:solidFill>
                <a:latin typeface="Arial"/>
                <a:ea typeface="Arial"/>
                <a:cs typeface="Arial"/>
              </a:defRPr>
            </a:pPr>
            <a:r>
              <a:rPr sz="3300" b="1">
                <a:solidFill>
                  <a:srgbClr val="142D43"/>
                </a:solidFill>
                <a:latin typeface="Arial"/>
                <a:ea typeface="Arial"/>
                <a:cs typeface="Arial"/>
              </a:rPr>
              <a:t>Architecture overview: work in progress</a:t>
            </a:r>
          </a:p>
        </p:txBody>
      </p:sp>
      <p:sp>
        <p:nvSpPr>
          <p:cNvPr id="2" name="">
            <a:extLst xmlns:a="http://schemas.openxmlformats.org/drawingml/2006/main">
              <a:ext uri="{FF2B5EF4-FFF2-40B4-BE49-F238E27FC236}">
                <a16:creationId xmlns:a16="http://schemas.microsoft.com/office/drawing/2014/main" id="{030E7F96-31DC-4C53-AE7B-1DE9F34A2C13}"/>
              </a:ext>
            </a:extLst>
          </p:cNvPr>
          <p:cNvSpPr>
            <a:spLocks xmlns:a="http://schemas.openxmlformats.org/drawingml/2006/main" noGrp="1"/>
          </p:cNvSpPr>
          <p:nvPr/>
        </p:nvSpPr>
        <p:spPr>
          <a:xfrm xmlns:a="http://schemas.openxmlformats.org/drawingml/2006/main">
            <a:off x="11144250" y="6315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E412823-1DC4-430C-8D00-FB3EB3F814D4}"/>
              </a:ext>
            </a:extLst>
          </p:cNvPr>
          <p:cNvSpPr>
            <a:spLocks xmlns:a="http://schemas.openxmlformats.org/drawingml/2006/main" noGrp="1"/>
          </p:cNvSpPr>
          <p:nvPr/>
        </p:nvSpPr>
        <p:spPr>
          <a:xfrm xmlns:a="http://schemas.openxmlformats.org/drawingml/2006/main">
            <a:off x="523875" y="1381125"/>
            <a:ext cx="2762250" cy="1076325"/>
          </a:xfrm>
          <a:prstGeom xmlns:a="http://schemas.openxmlformats.org/drawingml/2006/main" prst="rect">
            <a:avLst/>
          </a:prstGeom>
          <a:solidFill xmlns:a="http://schemas.openxmlformats.org/drawingml/2006/main">
            <a:srgbClr val="EDF5FA"/>
          </a:solidFill>
          <a:ln xmlns:a="http://schemas.openxmlformats.org/drawingml/2006/main" w="19050">
            <a:solidFill>
              <a:srgbClr val="1469A2"/>
            </a:solidFill>
          </a:ln>
        </p:spPr>
      </p:sp>
      <p:sp>
        <p:nvSpPr>
          <p:cNvPr id="4" name="">
            <a:extLst xmlns:a="http://schemas.openxmlformats.org/drawingml/2006/main">
              <a:ext uri="{FF2B5EF4-FFF2-40B4-BE49-F238E27FC236}">
                <a16:creationId xmlns:a16="http://schemas.microsoft.com/office/drawing/2014/main" id="{7E190E16-41A1-4298-AC7C-3EF82F46B948}"/>
              </a:ext>
            </a:extLst>
          </p:cNvPr>
          <p:cNvSpPr>
            <a:spLocks xmlns:a="http://schemas.openxmlformats.org/drawingml/2006/main" noGrp="1"/>
          </p:cNvSpPr>
          <p:nvPr/>
        </p:nvSpPr>
        <p:spPr>
          <a:xfrm xmlns:a="http://schemas.openxmlformats.org/drawingml/2006/main">
            <a:off x="638175" y="1495425"/>
            <a:ext cx="2533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69A2"/>
                </a:solidFill>
                <a:latin typeface="Arial"/>
                <a:ea typeface="Arial"/>
                <a:cs typeface="Arial"/>
              </a:defRPr>
            </a:pPr>
            <a:r>
              <a:rPr sz="1800" b="1">
                <a:solidFill>
                  <a:srgbClr val="1469A2"/>
                </a:solidFill>
                <a:latin typeface="Arial"/>
                <a:ea typeface="Arial"/>
                <a:cs typeface="Arial"/>
              </a:rPr>
              <a:t>Writeback catalogue</a:t>
            </a:r>
          </a:p>
        </p:txBody>
      </p:sp>
      <p:sp>
        <p:nvSpPr>
          <p:cNvPr id="5" name="">
            <a:extLst xmlns:a="http://schemas.openxmlformats.org/drawingml/2006/main">
              <a:ext uri="{FF2B5EF4-FFF2-40B4-BE49-F238E27FC236}">
                <a16:creationId xmlns:a16="http://schemas.microsoft.com/office/drawing/2014/main" id="{66586AF9-04D0-4DC6-BE4F-AB25A11A2E27}"/>
              </a:ext>
            </a:extLst>
          </p:cNvPr>
          <p:cNvSpPr>
            <a:spLocks xmlns:a="http://schemas.openxmlformats.org/drawingml/2006/main" noGrp="1"/>
          </p:cNvSpPr>
          <p:nvPr/>
        </p:nvSpPr>
        <p:spPr>
          <a:xfrm xmlns:a="http://schemas.openxmlformats.org/drawingml/2006/main">
            <a:off x="638175" y="1876425"/>
            <a:ext cx="2533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Clone definitions +</a:t>
            </a:r>
          </a:p>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derived properties</a:t>
            </a:r>
          </a:p>
        </p:txBody>
      </p:sp>
      <p:sp>
        <p:nvSpPr>
          <p:cNvPr id="6" name="">
            <a:extLst xmlns:a="http://schemas.openxmlformats.org/drawingml/2006/main">
              <a:ext uri="{FF2B5EF4-FFF2-40B4-BE49-F238E27FC236}">
                <a16:creationId xmlns:a16="http://schemas.microsoft.com/office/drawing/2014/main" id="{B22926B0-407F-4385-8EAE-E3F620515EAA}"/>
              </a:ext>
            </a:extLst>
          </p:cNvPr>
          <p:cNvSpPr>
            <a:spLocks xmlns:a="http://schemas.openxmlformats.org/drawingml/2006/main" noGrp="1"/>
          </p:cNvSpPr>
          <p:nvPr/>
        </p:nvSpPr>
        <p:spPr>
          <a:xfrm xmlns:a="http://schemas.openxmlformats.org/drawingml/2006/main">
            <a:off x="523875" y="3143250"/>
            <a:ext cx="2762250" cy="1000125"/>
          </a:xfrm>
          <a:prstGeom xmlns:a="http://schemas.openxmlformats.org/drawingml/2006/main" prst="rect">
            <a:avLst/>
          </a:prstGeom>
          <a:solidFill xmlns:a="http://schemas.openxmlformats.org/drawingml/2006/main">
            <a:srgbClr val="EDF5FA"/>
          </a:solidFill>
          <a:ln xmlns:a="http://schemas.openxmlformats.org/drawingml/2006/main" w="19050">
            <a:solidFill>
              <a:srgbClr val="1469A2"/>
            </a:solidFill>
          </a:ln>
        </p:spPr>
      </p:sp>
      <p:sp>
        <p:nvSpPr>
          <p:cNvPr id="7" name="">
            <a:extLst xmlns:a="http://schemas.openxmlformats.org/drawingml/2006/main">
              <a:ext uri="{FF2B5EF4-FFF2-40B4-BE49-F238E27FC236}">
                <a16:creationId xmlns:a16="http://schemas.microsoft.com/office/drawing/2014/main" id="{AAA75FDF-2C5C-4765-930C-899D2DB3D575}"/>
              </a:ext>
            </a:extLst>
          </p:cNvPr>
          <p:cNvSpPr>
            <a:spLocks xmlns:a="http://schemas.openxmlformats.org/drawingml/2006/main" noGrp="1"/>
          </p:cNvSpPr>
          <p:nvPr/>
        </p:nvSpPr>
        <p:spPr>
          <a:xfrm xmlns:a="http://schemas.openxmlformats.org/drawingml/2006/main">
            <a:off x="638175" y="3257550"/>
            <a:ext cx="2533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69A2"/>
                </a:solidFill>
                <a:latin typeface="Arial"/>
                <a:ea typeface="Arial"/>
                <a:cs typeface="Arial"/>
              </a:defRPr>
            </a:pPr>
            <a:r>
              <a:rPr sz="1800" b="1">
                <a:solidFill>
                  <a:srgbClr val="1469A2"/>
                </a:solidFill>
                <a:latin typeface="Arial"/>
                <a:ea typeface="Arial"/>
                <a:cs typeface="Arial"/>
              </a:rPr>
              <a:t>GMR_ATG_TRN</a:t>
            </a:r>
          </a:p>
        </p:txBody>
      </p:sp>
      <p:sp>
        <p:nvSpPr>
          <p:cNvPr id="8" name="">
            <a:extLst xmlns:a="http://schemas.openxmlformats.org/drawingml/2006/main">
              <a:ext uri="{FF2B5EF4-FFF2-40B4-BE49-F238E27FC236}">
                <a16:creationId xmlns:a16="http://schemas.microsoft.com/office/drawing/2014/main" id="{003A8D50-E524-45AA-8782-429A299E3DD4}"/>
              </a:ext>
            </a:extLst>
          </p:cNvPr>
          <p:cNvSpPr>
            <a:spLocks xmlns:a="http://schemas.openxmlformats.org/drawingml/2006/main" noGrp="1"/>
          </p:cNvSpPr>
          <p:nvPr/>
        </p:nvSpPr>
        <p:spPr>
          <a:xfrm xmlns:a="http://schemas.openxmlformats.org/drawingml/2006/main">
            <a:off x="638175" y="363855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ATG views</a:t>
            </a:r>
          </a:p>
        </p:txBody>
      </p:sp>
      <p:sp>
        <p:nvSpPr>
          <p:cNvPr id="9" name="">
            <a:extLst xmlns:a="http://schemas.openxmlformats.org/drawingml/2006/main">
              <a:ext uri="{FF2B5EF4-FFF2-40B4-BE49-F238E27FC236}">
                <a16:creationId xmlns:a16="http://schemas.microsoft.com/office/drawing/2014/main" id="{D2601284-9B59-4B8E-8807-106FBF93D812}"/>
              </a:ext>
            </a:extLst>
          </p:cNvPr>
          <p:cNvSpPr>
            <a:spLocks xmlns:a="http://schemas.openxmlformats.org/drawingml/2006/main" noGrp="1"/>
          </p:cNvSpPr>
          <p:nvPr/>
        </p:nvSpPr>
        <p:spPr>
          <a:xfrm xmlns:a="http://schemas.openxmlformats.org/drawingml/2006/main">
            <a:off x="4095750" y="3143250"/>
            <a:ext cx="2571750" cy="1000125"/>
          </a:xfrm>
          <a:prstGeom xmlns:a="http://schemas.openxmlformats.org/drawingml/2006/main" prst="rect">
            <a:avLst/>
          </a:prstGeom>
          <a:solidFill xmlns:a="http://schemas.openxmlformats.org/drawingml/2006/main">
            <a:srgbClr val="EDF5FA"/>
          </a:solidFill>
          <a:ln xmlns:a="http://schemas.openxmlformats.org/drawingml/2006/main" w="19050">
            <a:solidFill>
              <a:srgbClr val="1469A2"/>
            </a:solidFill>
          </a:ln>
        </p:spPr>
      </p:sp>
      <p:sp>
        <p:nvSpPr>
          <p:cNvPr id="10" name="">
            <a:extLst xmlns:a="http://schemas.openxmlformats.org/drawingml/2006/main">
              <a:ext uri="{FF2B5EF4-FFF2-40B4-BE49-F238E27FC236}">
                <a16:creationId xmlns:a16="http://schemas.microsoft.com/office/drawing/2014/main" id="{31B9965D-1C64-41A4-A991-936CBB0B3B7B}"/>
              </a:ext>
            </a:extLst>
          </p:cNvPr>
          <p:cNvSpPr>
            <a:spLocks xmlns:a="http://schemas.openxmlformats.org/drawingml/2006/main" noGrp="1"/>
          </p:cNvSpPr>
          <p:nvPr/>
        </p:nvSpPr>
        <p:spPr>
          <a:xfrm xmlns:a="http://schemas.openxmlformats.org/drawingml/2006/main">
            <a:off x="4210050" y="3257550"/>
            <a:ext cx="234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69A2"/>
                </a:solidFill>
                <a:latin typeface="Arial"/>
                <a:ea typeface="Arial"/>
                <a:cs typeface="Arial"/>
              </a:defRPr>
            </a:pPr>
            <a:r>
              <a:rPr sz="1800" b="1">
                <a:solidFill>
                  <a:srgbClr val="1469A2"/>
                </a:solidFill>
                <a:latin typeface="Arial"/>
                <a:ea typeface="Arial"/>
                <a:cs typeface="Arial"/>
              </a:rPr>
              <a:t>FBN_TRN</a:t>
            </a:r>
          </a:p>
        </p:txBody>
      </p:sp>
      <p:sp>
        <p:nvSpPr>
          <p:cNvPr id="11" name="">
            <a:extLst xmlns:a="http://schemas.openxmlformats.org/drawingml/2006/main">
              <a:ext uri="{FF2B5EF4-FFF2-40B4-BE49-F238E27FC236}">
                <a16:creationId xmlns:a16="http://schemas.microsoft.com/office/drawing/2014/main" id="{5684FD53-9A4C-428A-9B6F-F10AD3060532}"/>
              </a:ext>
            </a:extLst>
          </p:cNvPr>
          <p:cNvSpPr>
            <a:spLocks xmlns:a="http://schemas.openxmlformats.org/drawingml/2006/main" noGrp="1"/>
          </p:cNvSpPr>
          <p:nvPr/>
        </p:nvSpPr>
        <p:spPr>
          <a:xfrm xmlns:a="http://schemas.openxmlformats.org/drawingml/2006/main">
            <a:off x="4210050" y="3638550"/>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Physical tables</a:t>
            </a:r>
          </a:p>
        </p:txBody>
      </p:sp>
      <p:sp>
        <p:nvSpPr>
          <p:cNvPr id="12" name="">
            <a:extLst xmlns:a="http://schemas.openxmlformats.org/drawingml/2006/main">
              <a:ext uri="{FF2B5EF4-FFF2-40B4-BE49-F238E27FC236}">
                <a16:creationId xmlns:a16="http://schemas.microsoft.com/office/drawing/2014/main" id="{FE94507C-DFAD-40DF-A7A2-58B420EC43C2}"/>
              </a:ext>
            </a:extLst>
          </p:cNvPr>
          <p:cNvSpPr>
            <a:spLocks xmlns:a="http://schemas.openxmlformats.org/drawingml/2006/main" noGrp="1"/>
          </p:cNvSpPr>
          <p:nvPr/>
        </p:nvSpPr>
        <p:spPr>
          <a:xfrm xmlns:a="http://schemas.openxmlformats.org/drawingml/2006/main">
            <a:off x="523875" y="4953000"/>
            <a:ext cx="2762250" cy="1000125"/>
          </a:xfrm>
          <a:prstGeom xmlns:a="http://schemas.openxmlformats.org/drawingml/2006/main" prst="rect">
            <a:avLst/>
          </a:prstGeom>
          <a:solidFill xmlns:a="http://schemas.openxmlformats.org/drawingml/2006/main">
            <a:srgbClr val="EDF5FA"/>
          </a:solidFill>
          <a:ln xmlns:a="http://schemas.openxmlformats.org/drawingml/2006/main" w="19050">
            <a:solidFill>
              <a:srgbClr val="007F78"/>
            </a:solidFill>
          </a:ln>
        </p:spPr>
      </p:sp>
      <p:sp>
        <p:nvSpPr>
          <p:cNvPr id="13" name="">
            <a:extLst xmlns:a="http://schemas.openxmlformats.org/drawingml/2006/main">
              <a:ext uri="{FF2B5EF4-FFF2-40B4-BE49-F238E27FC236}">
                <a16:creationId xmlns:a16="http://schemas.microsoft.com/office/drawing/2014/main" id="{EFDB79A5-6D13-4340-A05B-40131A9EE4BC}"/>
              </a:ext>
            </a:extLst>
          </p:cNvPr>
          <p:cNvSpPr>
            <a:spLocks xmlns:a="http://schemas.openxmlformats.org/drawingml/2006/main" noGrp="1"/>
          </p:cNvSpPr>
          <p:nvPr/>
        </p:nvSpPr>
        <p:spPr>
          <a:xfrm xmlns:a="http://schemas.openxmlformats.org/drawingml/2006/main">
            <a:off x="638175" y="5067300"/>
            <a:ext cx="2533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Arial"/>
                <a:ea typeface="Arial"/>
                <a:cs typeface="Arial"/>
              </a:defRPr>
            </a:pPr>
            <a:r>
              <a:rPr sz="1800" b="1">
                <a:solidFill>
                  <a:srgbClr val="007F78"/>
                </a:solidFill>
                <a:latin typeface="Arial"/>
                <a:ea typeface="Arial"/>
                <a:cs typeface="Arial"/>
              </a:rPr>
              <a:t>Existing writeback</a:t>
            </a:r>
          </a:p>
        </p:txBody>
      </p:sp>
      <p:sp>
        <p:nvSpPr>
          <p:cNvPr id="14" name="">
            <a:extLst xmlns:a="http://schemas.openxmlformats.org/drawingml/2006/main">
              <a:ext uri="{FF2B5EF4-FFF2-40B4-BE49-F238E27FC236}">
                <a16:creationId xmlns:a16="http://schemas.microsoft.com/office/drawing/2014/main" id="{D4B9BAC8-F210-4FB6-A10A-F6D57A4250EF}"/>
              </a:ext>
            </a:extLst>
          </p:cNvPr>
          <p:cNvSpPr>
            <a:spLocks xmlns:a="http://schemas.openxmlformats.org/drawingml/2006/main" noGrp="1"/>
          </p:cNvSpPr>
          <p:nvPr/>
        </p:nvSpPr>
        <p:spPr>
          <a:xfrm xmlns:a="http://schemas.openxmlformats.org/drawingml/2006/main">
            <a:off x="638175" y="5448300"/>
            <a:ext cx="2533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Insert / update</a:t>
            </a:r>
          </a:p>
        </p:txBody>
      </p:sp>
      <p:sp>
        <p:nvSpPr>
          <p:cNvPr id="15" name="">
            <a:extLst xmlns:a="http://schemas.openxmlformats.org/drawingml/2006/main">
              <a:ext uri="{FF2B5EF4-FFF2-40B4-BE49-F238E27FC236}">
                <a16:creationId xmlns:a16="http://schemas.microsoft.com/office/drawing/2014/main" id="{A4B559CA-894F-4DAD-8848-BE838208BE04}"/>
              </a:ext>
            </a:extLst>
          </p:cNvPr>
          <p:cNvSpPr>
            <a:spLocks xmlns:a="http://schemas.openxmlformats.org/drawingml/2006/main" noGrp="1"/>
          </p:cNvSpPr>
          <p:nvPr/>
        </p:nvSpPr>
        <p:spPr>
          <a:xfrm xmlns:a="http://schemas.openxmlformats.org/drawingml/2006/main">
            <a:off x="4095750" y="4953000"/>
            <a:ext cx="2571750" cy="1000125"/>
          </a:xfrm>
          <a:prstGeom xmlns:a="http://schemas.openxmlformats.org/drawingml/2006/main" prst="rect">
            <a:avLst/>
          </a:prstGeom>
          <a:solidFill xmlns:a="http://schemas.openxmlformats.org/drawingml/2006/main">
            <a:srgbClr val="EDF5FA"/>
          </a:solidFill>
          <a:ln xmlns:a="http://schemas.openxmlformats.org/drawingml/2006/main" w="19050">
            <a:solidFill>
              <a:srgbClr val="007F78"/>
            </a:solidFill>
          </a:ln>
        </p:spPr>
      </p:sp>
      <p:sp>
        <p:nvSpPr>
          <p:cNvPr id="16" name="">
            <a:extLst xmlns:a="http://schemas.openxmlformats.org/drawingml/2006/main">
              <a:ext uri="{FF2B5EF4-FFF2-40B4-BE49-F238E27FC236}">
                <a16:creationId xmlns:a16="http://schemas.microsoft.com/office/drawing/2014/main" id="{5B546121-B548-4637-A755-64400EB95159}"/>
              </a:ext>
            </a:extLst>
          </p:cNvPr>
          <p:cNvSpPr>
            <a:spLocks xmlns:a="http://schemas.openxmlformats.org/drawingml/2006/main" noGrp="1"/>
          </p:cNvSpPr>
          <p:nvPr/>
        </p:nvSpPr>
        <p:spPr>
          <a:xfrm xmlns:a="http://schemas.openxmlformats.org/drawingml/2006/main">
            <a:off x="4210050" y="5067300"/>
            <a:ext cx="234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Arial"/>
                <a:ea typeface="Arial"/>
                <a:cs typeface="Arial"/>
              </a:defRPr>
            </a:pPr>
            <a:r>
              <a:rPr sz="1800" b="1">
                <a:solidFill>
                  <a:srgbClr val="007F78"/>
                </a:solidFill>
                <a:latin typeface="Arial"/>
                <a:ea typeface="Arial"/>
                <a:cs typeface="Arial"/>
              </a:rPr>
              <a:t>GMR_TRN</a:t>
            </a:r>
          </a:p>
        </p:txBody>
      </p:sp>
      <p:sp>
        <p:nvSpPr>
          <p:cNvPr id="17" name="">
            <a:extLst xmlns:a="http://schemas.openxmlformats.org/drawingml/2006/main">
              <a:ext uri="{FF2B5EF4-FFF2-40B4-BE49-F238E27FC236}">
                <a16:creationId xmlns:a16="http://schemas.microsoft.com/office/drawing/2014/main" id="{E2B29A81-113C-415A-A5A7-C2EE878F56CB}"/>
              </a:ext>
            </a:extLst>
          </p:cNvPr>
          <p:cNvSpPr>
            <a:spLocks xmlns:a="http://schemas.openxmlformats.org/drawingml/2006/main" noGrp="1"/>
          </p:cNvSpPr>
          <p:nvPr/>
        </p:nvSpPr>
        <p:spPr>
          <a:xfrm xmlns:a="http://schemas.openxmlformats.org/drawingml/2006/main">
            <a:off x="4210050" y="5448300"/>
            <a:ext cx="2343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Physical tables</a:t>
            </a:r>
          </a:p>
        </p:txBody>
      </p:sp>
      <p:sp>
        <p:nvSpPr>
          <p:cNvPr id="18" name="">
            <a:extLst xmlns:a="http://schemas.openxmlformats.org/drawingml/2006/main">
              <a:ext uri="{FF2B5EF4-FFF2-40B4-BE49-F238E27FC236}">
                <a16:creationId xmlns:a16="http://schemas.microsoft.com/office/drawing/2014/main" id="{6C472B17-E81D-4435-A61A-83391EED7178}"/>
              </a:ext>
            </a:extLst>
          </p:cNvPr>
          <p:cNvSpPr>
            <a:spLocks xmlns:a="http://schemas.openxmlformats.org/drawingml/2006/main" noGrp="1"/>
          </p:cNvSpPr>
          <p:nvPr/>
        </p:nvSpPr>
        <p:spPr>
          <a:xfrm xmlns:a="http://schemas.openxmlformats.org/drawingml/2006/main">
            <a:off x="7667625" y="4095750"/>
            <a:ext cx="3429000" cy="1000125"/>
          </a:xfrm>
          <a:prstGeom xmlns:a="http://schemas.openxmlformats.org/drawingml/2006/main" prst="rect">
            <a:avLst/>
          </a:prstGeom>
          <a:solidFill xmlns:a="http://schemas.openxmlformats.org/drawingml/2006/main">
            <a:srgbClr val="EDF5FA"/>
          </a:solidFill>
          <a:ln xmlns:a="http://schemas.openxmlformats.org/drawingml/2006/main" w="19050">
            <a:solidFill>
              <a:srgbClr val="1469A2"/>
            </a:solidFill>
          </a:ln>
        </p:spPr>
      </p:sp>
      <p:sp>
        <p:nvSpPr>
          <p:cNvPr id="19" name="">
            <a:extLst xmlns:a="http://schemas.openxmlformats.org/drawingml/2006/main">
              <a:ext uri="{FF2B5EF4-FFF2-40B4-BE49-F238E27FC236}">
                <a16:creationId xmlns:a16="http://schemas.microsoft.com/office/drawing/2014/main" id="{8BE853C1-673E-4BF6-8277-9E2CA3EE25EF}"/>
              </a:ext>
            </a:extLst>
          </p:cNvPr>
          <p:cNvSpPr>
            <a:spLocks xmlns:a="http://schemas.openxmlformats.org/drawingml/2006/main" noGrp="1"/>
          </p:cNvSpPr>
          <p:nvPr/>
        </p:nvSpPr>
        <p:spPr>
          <a:xfrm xmlns:a="http://schemas.openxmlformats.org/drawingml/2006/main">
            <a:off x="7781925" y="4210050"/>
            <a:ext cx="320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69A2"/>
                </a:solidFill>
                <a:latin typeface="Arial"/>
                <a:ea typeface="Arial"/>
                <a:cs typeface="Arial"/>
              </a:defRPr>
            </a:pPr>
            <a:r>
              <a:rPr sz="1800" b="1">
                <a:solidFill>
                  <a:srgbClr val="1469A2"/>
                </a:solidFill>
                <a:latin typeface="Arial"/>
                <a:ea typeface="Arial"/>
                <a:cs typeface="Arial"/>
              </a:rPr>
              <a:t>Recon views</a:t>
            </a:r>
          </a:p>
        </p:txBody>
      </p:sp>
      <p:sp>
        <p:nvSpPr>
          <p:cNvPr id="20" name="">
            <a:extLst xmlns:a="http://schemas.openxmlformats.org/drawingml/2006/main">
              <a:ext uri="{FF2B5EF4-FFF2-40B4-BE49-F238E27FC236}">
                <a16:creationId xmlns:a16="http://schemas.microsoft.com/office/drawing/2014/main" id="{D9E8A72A-6420-4314-8B33-261288F57A67}"/>
              </a:ext>
            </a:extLst>
          </p:cNvPr>
          <p:cNvSpPr>
            <a:spLocks xmlns:a="http://schemas.openxmlformats.org/drawingml/2006/main" noGrp="1"/>
          </p:cNvSpPr>
          <p:nvPr/>
        </p:nvSpPr>
        <p:spPr>
          <a:xfrm xmlns:a="http://schemas.openxmlformats.org/drawingml/2006/main">
            <a:off x="7781925" y="459105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Compare FBN + GMR</a:t>
            </a:r>
          </a:p>
        </p:txBody>
      </p:sp>
      <p:sp>
        <p:nvSpPr>
          <p:cNvPr id="21" name="">
            <a:extLst xmlns:a="http://schemas.openxmlformats.org/drawingml/2006/main">
              <a:ext uri="{FF2B5EF4-FFF2-40B4-BE49-F238E27FC236}">
                <a16:creationId xmlns:a16="http://schemas.microsoft.com/office/drawing/2014/main" id="{2FE27AC1-42F0-4AAB-9D28-87678BD14093}"/>
              </a:ext>
            </a:extLst>
          </p:cNvPr>
          <p:cNvSpPr>
            <a:spLocks xmlns:a="http://schemas.openxmlformats.org/drawingml/2006/main" noGrp="1"/>
          </p:cNvSpPr>
          <p:nvPr/>
        </p:nvSpPr>
        <p:spPr>
          <a:xfrm xmlns:a="http://schemas.openxmlformats.org/drawingml/2006/main">
            <a:off x="7667625" y="2571750"/>
            <a:ext cx="3429000" cy="1000125"/>
          </a:xfrm>
          <a:prstGeom xmlns:a="http://schemas.openxmlformats.org/drawingml/2006/main" prst="rect">
            <a:avLst/>
          </a:prstGeom>
          <a:solidFill xmlns:a="http://schemas.openxmlformats.org/drawingml/2006/main">
            <a:srgbClr val="EDF5FA"/>
          </a:solidFill>
          <a:ln xmlns:a="http://schemas.openxmlformats.org/drawingml/2006/main" w="19050">
            <a:solidFill>
              <a:srgbClr val="1469A2"/>
            </a:solidFill>
          </a:ln>
        </p:spPr>
      </p:sp>
      <p:sp>
        <p:nvSpPr>
          <p:cNvPr id="22" name="">
            <a:extLst xmlns:a="http://schemas.openxmlformats.org/drawingml/2006/main">
              <a:ext uri="{FF2B5EF4-FFF2-40B4-BE49-F238E27FC236}">
                <a16:creationId xmlns:a16="http://schemas.microsoft.com/office/drawing/2014/main" id="{C01D0FF8-477F-4945-B6BC-D144CB20C2EB}"/>
              </a:ext>
            </a:extLst>
          </p:cNvPr>
          <p:cNvSpPr>
            <a:spLocks xmlns:a="http://schemas.openxmlformats.org/drawingml/2006/main" noGrp="1"/>
          </p:cNvSpPr>
          <p:nvPr/>
        </p:nvSpPr>
        <p:spPr>
          <a:xfrm xmlns:a="http://schemas.openxmlformats.org/drawingml/2006/main">
            <a:off x="7781925" y="2686050"/>
            <a:ext cx="320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69A2"/>
                </a:solidFill>
                <a:latin typeface="Arial"/>
                <a:ea typeface="Arial"/>
                <a:cs typeface="Arial"/>
              </a:defRPr>
            </a:pPr>
            <a:r>
              <a:rPr sz="1800" b="1">
                <a:solidFill>
                  <a:srgbClr val="1469A2"/>
                </a:solidFill>
                <a:latin typeface="Arial"/>
                <a:ea typeface="Arial"/>
                <a:cs typeface="Arial"/>
              </a:rPr>
              <a:t>RECON_ATG_TRN</a:t>
            </a:r>
          </a:p>
        </p:txBody>
      </p:sp>
      <p:sp>
        <p:nvSpPr>
          <p:cNvPr id="23" name="">
            <a:extLst xmlns:a="http://schemas.openxmlformats.org/drawingml/2006/main">
              <a:ext uri="{FF2B5EF4-FFF2-40B4-BE49-F238E27FC236}">
                <a16:creationId xmlns:a16="http://schemas.microsoft.com/office/drawing/2014/main" id="{811FCC73-ACB2-4EDA-AEE5-7B8BC81B5D34}"/>
              </a:ext>
            </a:extLst>
          </p:cNvPr>
          <p:cNvSpPr>
            <a:spLocks xmlns:a="http://schemas.openxmlformats.org/drawingml/2006/main" noGrp="1"/>
          </p:cNvSpPr>
          <p:nvPr/>
        </p:nvSpPr>
        <p:spPr>
          <a:xfrm xmlns:a="http://schemas.openxmlformats.org/drawingml/2006/main">
            <a:off x="7781925" y="3067050"/>
            <a:ext cx="320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Persist reconciliation results</a:t>
            </a:r>
          </a:p>
        </p:txBody>
      </p:sp>
      <p:sp>
        <p:nvSpPr>
          <p:cNvPr id="24" name="">
            <a:extLst xmlns:a="http://schemas.openxmlformats.org/drawingml/2006/main">
              <a:ext uri="{FF2B5EF4-FFF2-40B4-BE49-F238E27FC236}">
                <a16:creationId xmlns:a16="http://schemas.microsoft.com/office/drawing/2014/main" id="{8E656E58-1288-45C3-9FAE-1FFC6F7C554D}"/>
              </a:ext>
            </a:extLst>
          </p:cNvPr>
          <p:cNvSpPr>
            <a:spLocks xmlns:a="http://schemas.openxmlformats.org/drawingml/2006/main" noGrp="1"/>
          </p:cNvSpPr>
          <p:nvPr/>
        </p:nvSpPr>
        <p:spPr>
          <a:xfrm xmlns:a="http://schemas.openxmlformats.org/drawingml/2006/main">
            <a:off x="7667625" y="1238250"/>
            <a:ext cx="3429000" cy="904875"/>
          </a:xfrm>
          <a:prstGeom xmlns:a="http://schemas.openxmlformats.org/drawingml/2006/main" prst="rect">
            <a:avLst/>
          </a:prstGeom>
          <a:solidFill xmlns:a="http://schemas.openxmlformats.org/drawingml/2006/main">
            <a:srgbClr val="EDF5FA"/>
          </a:solidFill>
          <a:ln xmlns:a="http://schemas.openxmlformats.org/drawingml/2006/main" w="19050">
            <a:solidFill>
              <a:srgbClr val="1469A2"/>
            </a:solidFill>
          </a:ln>
        </p:spPr>
      </p:sp>
      <p:sp>
        <p:nvSpPr>
          <p:cNvPr id="25" name="">
            <a:extLst xmlns:a="http://schemas.openxmlformats.org/drawingml/2006/main">
              <a:ext uri="{FF2B5EF4-FFF2-40B4-BE49-F238E27FC236}">
                <a16:creationId xmlns:a16="http://schemas.microsoft.com/office/drawing/2014/main" id="{71287ECA-C043-4DC7-B8D2-9253AFA0914D}"/>
              </a:ext>
            </a:extLst>
          </p:cNvPr>
          <p:cNvSpPr>
            <a:spLocks xmlns:a="http://schemas.openxmlformats.org/drawingml/2006/main" noGrp="1"/>
          </p:cNvSpPr>
          <p:nvPr/>
        </p:nvSpPr>
        <p:spPr>
          <a:xfrm xmlns:a="http://schemas.openxmlformats.org/drawingml/2006/main">
            <a:off x="7781925" y="1352550"/>
            <a:ext cx="320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69A2"/>
                </a:solidFill>
                <a:latin typeface="Arial"/>
                <a:ea typeface="Arial"/>
                <a:cs typeface="Arial"/>
              </a:defRPr>
            </a:pPr>
            <a:r>
              <a:rPr sz="1800" b="1">
                <a:solidFill>
                  <a:srgbClr val="1469A2"/>
                </a:solidFill>
                <a:latin typeface="Arial"/>
                <a:ea typeface="Arial"/>
                <a:cs typeface="Arial"/>
              </a:rPr>
              <a:t>Power BI</a:t>
            </a:r>
          </a:p>
        </p:txBody>
      </p:sp>
      <p:sp>
        <p:nvSpPr>
          <p:cNvPr id="26" name="">
            <a:extLst xmlns:a="http://schemas.openxmlformats.org/drawingml/2006/main">
              <a:ext uri="{FF2B5EF4-FFF2-40B4-BE49-F238E27FC236}">
                <a16:creationId xmlns:a16="http://schemas.microsoft.com/office/drawing/2014/main" id="{98254F5E-55E9-411C-A800-8CD0CC4972D3}"/>
              </a:ext>
            </a:extLst>
          </p:cNvPr>
          <p:cNvSpPr>
            <a:spLocks xmlns:a="http://schemas.openxmlformats.org/drawingml/2006/main" noGrp="1"/>
          </p:cNvSpPr>
          <p:nvPr/>
        </p:nvSpPr>
        <p:spPr>
          <a:xfrm xmlns:a="http://schemas.openxmlformats.org/drawingml/2006/main">
            <a:off x="7781925" y="1733550"/>
            <a:ext cx="320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Recon ATG report</a:t>
            </a:r>
          </a:p>
        </p:txBody>
      </p:sp>
      <p:sp>
        <p:nvSpPr>
          <p:cNvPr id="34" name="">
            <a:extLst xmlns:a="http://schemas.openxmlformats.org/drawingml/2006/main">
              <a:ext uri="{FF2B5EF4-FFF2-40B4-BE49-F238E27FC236}">
                <a16:creationId xmlns:a16="http://schemas.microsoft.com/office/drawing/2014/main" id="{6C45C130-1F76-4D32-B184-BAF48DBF0118}"/>
              </a:ext>
            </a:extLst>
          </p:cNvPr>
          <p:cNvSpPr>
            <a:spLocks xmlns:a="http://schemas.openxmlformats.org/drawingml/2006/main" noGrp="1"/>
          </p:cNvSpPr>
          <p:nvPr/>
        </p:nvSpPr>
        <p:spPr>
          <a:xfrm xmlns:a="http://schemas.openxmlformats.org/drawingml/2006/main">
            <a:off x="4095750" y="1381125"/>
            <a:ext cx="2571750" cy="1076325"/>
          </a:xfrm>
          <a:prstGeom xmlns:a="http://schemas.openxmlformats.org/drawingml/2006/main" prst="rect">
            <a:avLst/>
          </a:prstGeom>
          <a:solidFill xmlns:a="http://schemas.openxmlformats.org/drawingml/2006/main">
            <a:srgbClr val="EDF5FA"/>
          </a:solidFill>
          <a:ln xmlns:a="http://schemas.openxmlformats.org/drawingml/2006/main" w="19050">
            <a:solidFill>
              <a:srgbClr val="007F78"/>
            </a:solidFill>
          </a:ln>
        </p:spPr>
      </p:sp>
      <p:sp>
        <p:nvSpPr>
          <p:cNvPr id="35" name="">
            <a:extLst xmlns:a="http://schemas.openxmlformats.org/drawingml/2006/main">
              <a:ext uri="{FF2B5EF4-FFF2-40B4-BE49-F238E27FC236}">
                <a16:creationId xmlns:a16="http://schemas.microsoft.com/office/drawing/2014/main" id="{DDA5EC95-1931-4F7F-B7BC-1EEBBAA06C11}"/>
              </a:ext>
            </a:extLst>
          </p:cNvPr>
          <p:cNvSpPr>
            <a:spLocks xmlns:a="http://schemas.openxmlformats.org/drawingml/2006/main" noGrp="1"/>
          </p:cNvSpPr>
          <p:nvPr/>
        </p:nvSpPr>
        <p:spPr>
          <a:xfrm xmlns:a="http://schemas.openxmlformats.org/drawingml/2006/main">
            <a:off x="4210050" y="1495425"/>
            <a:ext cx="234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Arial"/>
                <a:ea typeface="Arial"/>
                <a:cs typeface="Arial"/>
              </a:defRPr>
            </a:pPr>
            <a:r>
              <a:rPr sz="1800" b="1">
                <a:solidFill>
                  <a:srgbClr val="007F78"/>
                </a:solidFill>
                <a:latin typeface="Arial"/>
                <a:ea typeface="Arial"/>
                <a:cs typeface="Arial"/>
              </a:rPr>
              <a:t>FBN Scheduler</a:t>
            </a:r>
          </a:p>
        </p:txBody>
      </p:sp>
      <p:sp>
        <p:nvSpPr>
          <p:cNvPr id="36" name="">
            <a:extLst xmlns:a="http://schemas.openxmlformats.org/drawingml/2006/main">
              <a:ext uri="{FF2B5EF4-FFF2-40B4-BE49-F238E27FC236}">
                <a16:creationId xmlns:a16="http://schemas.microsoft.com/office/drawing/2014/main" id="{A9E658AA-1E3A-4EEC-80A9-8F330CA1C567}"/>
              </a:ext>
            </a:extLst>
          </p:cNvPr>
          <p:cNvSpPr>
            <a:spLocks xmlns:a="http://schemas.openxmlformats.org/drawingml/2006/main" noGrp="1"/>
          </p:cNvSpPr>
          <p:nvPr/>
        </p:nvSpPr>
        <p:spPr>
          <a:xfrm xmlns:a="http://schemas.openxmlformats.org/drawingml/2006/main">
            <a:off x="4210050" y="1876425"/>
            <a:ext cx="234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Execute views + insert</a:t>
            </a:r>
          </a:p>
        </p:txBody>
      </p:sp>
      <p:sp>
        <p:nvSpPr>
          <p:cNvPr id="38" name="">
            <a:extLst xmlns:a="http://schemas.openxmlformats.org/drawingml/2006/main">
              <a:ext uri="{FF2B5EF4-FFF2-40B4-BE49-F238E27FC236}">
                <a16:creationId xmlns:a16="http://schemas.microsoft.com/office/drawing/2014/main" id="{C386D4FA-BC7A-4DEE-B167-905784F017A3}"/>
              </a:ext>
            </a:extLst>
          </p:cNvPr>
          <p:cNvSpPr>
            <a:spLocks xmlns:a="http://schemas.openxmlformats.org/drawingml/2006/main" noGrp="1"/>
          </p:cNvSpPr>
          <p:nvPr/>
        </p:nvSpPr>
        <p:spPr>
          <a:xfrm xmlns:a="http://schemas.openxmlformats.org/drawingml/2006/main">
            <a:off x="7667625" y="5381625"/>
            <a:ext cx="3429000" cy="857250"/>
          </a:xfrm>
          <a:prstGeom xmlns:a="http://schemas.openxmlformats.org/drawingml/2006/main" prst="rect">
            <a:avLst/>
          </a:prstGeom>
          <a:solidFill xmlns:a="http://schemas.openxmlformats.org/drawingml/2006/main">
            <a:srgbClr val="EDF5FA"/>
          </a:solidFill>
          <a:ln xmlns:a="http://schemas.openxmlformats.org/drawingml/2006/main" w="19050">
            <a:solidFill>
              <a:srgbClr val="007F78"/>
            </a:solidFill>
          </a:ln>
        </p:spPr>
      </p:sp>
      <p:sp>
        <p:nvSpPr>
          <p:cNvPr id="39" name="">
            <a:extLst xmlns:a="http://schemas.openxmlformats.org/drawingml/2006/main">
              <a:ext uri="{FF2B5EF4-FFF2-40B4-BE49-F238E27FC236}">
                <a16:creationId xmlns:a16="http://schemas.microsoft.com/office/drawing/2014/main" id="{441AA811-4ED2-4668-923D-03EE00B54238}"/>
              </a:ext>
            </a:extLst>
          </p:cNvPr>
          <p:cNvSpPr>
            <a:spLocks xmlns:a="http://schemas.openxmlformats.org/drawingml/2006/main" noGrp="1"/>
          </p:cNvSpPr>
          <p:nvPr/>
        </p:nvSpPr>
        <p:spPr>
          <a:xfrm xmlns:a="http://schemas.openxmlformats.org/drawingml/2006/main">
            <a:off x="7781925" y="5495925"/>
            <a:ext cx="320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Arial"/>
                <a:ea typeface="Arial"/>
                <a:cs typeface="Arial"/>
              </a:defRPr>
            </a:pPr>
            <a:r>
              <a:rPr sz="1800" b="1">
                <a:solidFill>
                  <a:srgbClr val="007F78"/>
                </a:solidFill>
                <a:latin typeface="Arial"/>
                <a:ea typeface="Arial"/>
                <a:cs typeface="Arial"/>
              </a:rPr>
              <a:t>Recon Scheduler</a:t>
            </a:r>
          </a:p>
        </p:txBody>
      </p:sp>
      <p:sp>
        <p:nvSpPr>
          <p:cNvPr id="40" name="">
            <a:extLst xmlns:a="http://schemas.openxmlformats.org/drawingml/2006/main">
              <a:ext uri="{FF2B5EF4-FFF2-40B4-BE49-F238E27FC236}">
                <a16:creationId xmlns:a16="http://schemas.microsoft.com/office/drawing/2014/main" id="{C23A9AAA-67A8-4E5E-9F57-4622A682A200}"/>
              </a:ext>
            </a:extLst>
          </p:cNvPr>
          <p:cNvSpPr>
            <a:spLocks xmlns:a="http://schemas.openxmlformats.org/drawingml/2006/main" noGrp="1"/>
          </p:cNvSpPr>
          <p:nvPr/>
        </p:nvSpPr>
        <p:spPr>
          <a:xfrm xmlns:a="http://schemas.openxmlformats.org/drawingml/2006/main">
            <a:off x="7781925" y="5876925"/>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Execute views + insert</a:t>
            </a:r>
          </a:p>
        </p:txBody>
      </p:sp>
      <p:sp>
        <p:nvSpPr>
          <p:cNvPr id="42" name="">
            <a:extLst xmlns:a="http://schemas.openxmlformats.org/drawingml/2006/main">
              <a:ext uri="{FF2B5EF4-FFF2-40B4-BE49-F238E27FC236}">
                <a16:creationId xmlns:a16="http://schemas.microsoft.com/office/drawing/2014/main" id="{76EF1DDB-DD16-4476-9AF5-D0A2B22F6606}"/>
              </a:ext>
            </a:extLst>
          </p:cNvPr>
          <p:cNvSpPr>
            <a:spLocks xmlns:a="http://schemas.openxmlformats.org/drawingml/2006/main" noGrp="1"/>
          </p:cNvSpPr>
          <p:nvPr/>
        </p:nvSpPr>
        <p:spPr>
          <a:xfrm xmlns:a="http://schemas.openxmlformats.org/drawingml/2006/main">
            <a:off x="523875" y="6334125"/>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575"/>
                </a:solidFill>
                <a:latin typeface="Arial"/>
                <a:ea typeface="Arial"/>
                <a:cs typeface="Arial"/>
              </a:defRPr>
            </a:pPr>
            <a:r>
              <a:rPr sz="1425" b="0">
                <a:solidFill>
                  <a:srgbClr val="526575"/>
                </a:solidFill>
                <a:latin typeface="Arial"/>
                <a:ea typeface="Arial"/>
                <a:cs typeface="Arial"/>
              </a:rPr>
              <a:t>Solid: data     Dashed: configuration / execution</a:t>
            </a:r>
          </a:p>
        </p:txBody>
      </p:sp>
    </p:spTree>
    <p:extLst>
      <p:ext uri="{BB962C8B-B14F-4D97-AF65-F5344CB8AC3E}">
        <p14:creationId xmlns:p14="http://schemas.microsoft.com/office/powerpoint/2010/main" val="19091025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6518C3-BC1D-43F9-9CF0-4BDED0F10A87}"/>
              </a:ext>
            </a:extLst>
          </p:cNvPr>
          <p:cNvSpPr>
            <a:spLocks xmlns:a="http://schemas.openxmlformats.org/drawingml/2006/main" noGrp="1"/>
          </p:cNvSpPr>
          <p:nvPr/>
        </p:nvSpPr>
        <p:spPr>
          <a:xfrm xmlns:a="http://schemas.openxmlformats.org/drawingml/2006/main">
            <a:off x="6096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3"/>
                </a:solidFill>
                <a:latin typeface="Arial"/>
                <a:ea typeface="Arial"/>
                <a:cs typeface="Arial"/>
              </a:defRPr>
            </a:pPr>
            <a:r>
              <a:rPr sz="3300" b="1">
                <a:solidFill>
                  <a:srgbClr val="142D43"/>
                </a:solidFill>
                <a:latin typeface="Arial"/>
                <a:ea typeface="Arial"/>
                <a:cs typeface="Arial"/>
              </a:rPr>
              <a:t>ATG views and the FBN data flow</a:t>
            </a:r>
          </a:p>
        </p:txBody>
      </p:sp>
      <p:sp>
        <p:nvSpPr>
          <p:cNvPr id="2" name="">
            <a:extLst xmlns:a="http://schemas.openxmlformats.org/drawingml/2006/main">
              <a:ext uri="{FF2B5EF4-FFF2-40B4-BE49-F238E27FC236}">
                <a16:creationId xmlns:a16="http://schemas.microsoft.com/office/drawing/2014/main" id="{A3065D2C-68AC-40F0-92A6-266813FC96B4}"/>
              </a:ext>
            </a:extLst>
          </p:cNvPr>
          <p:cNvSpPr>
            <a:spLocks xmlns:a="http://schemas.openxmlformats.org/drawingml/2006/main" noGrp="1"/>
          </p:cNvSpPr>
          <p:nvPr/>
        </p:nvSpPr>
        <p:spPr>
          <a:xfrm xmlns:a="http://schemas.openxmlformats.org/drawingml/2006/main">
            <a:off x="11144250" y="6315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86EE1C3-305C-4603-9720-408B08E54090}"/>
              </a:ext>
            </a:extLst>
          </p:cNvPr>
          <p:cNvSpPr>
            <a:spLocks xmlns:a="http://schemas.openxmlformats.org/drawingml/2006/main" noGrp="1"/>
          </p:cNvSpPr>
          <p:nvPr/>
        </p:nvSpPr>
        <p:spPr>
          <a:xfrm xmlns:a="http://schemas.openxmlformats.org/drawingml/2006/main">
            <a:off x="628650" y="15240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F25D026-41CC-4BFE-A086-D6241EA5BD0E}"/>
              </a:ext>
            </a:extLst>
          </p:cNvPr>
          <p:cNvSpPr>
            <a:spLocks xmlns:a="http://schemas.openxmlformats.org/drawingml/2006/main" noGrp="1"/>
          </p:cNvSpPr>
          <p:nvPr/>
        </p:nvSpPr>
        <p:spPr>
          <a:xfrm xmlns:a="http://schemas.openxmlformats.org/drawingml/2006/main">
            <a:off x="1381125" y="152400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Create the ATG views</a:t>
            </a:r>
          </a:p>
        </p:txBody>
      </p:sp>
      <p:sp>
        <p:nvSpPr>
          <p:cNvPr id="5" name="">
            <a:extLst xmlns:a="http://schemas.openxmlformats.org/drawingml/2006/main">
              <a:ext uri="{FF2B5EF4-FFF2-40B4-BE49-F238E27FC236}">
                <a16:creationId xmlns:a16="http://schemas.microsoft.com/office/drawing/2014/main" id="{62F27343-8AD5-44A6-903E-F62906F0ACEE}"/>
              </a:ext>
            </a:extLst>
          </p:cNvPr>
          <p:cNvSpPr>
            <a:spLocks xmlns:a="http://schemas.openxmlformats.org/drawingml/2006/main" noGrp="1"/>
          </p:cNvSpPr>
          <p:nvPr/>
        </p:nvSpPr>
        <p:spPr>
          <a:xfrm xmlns:a="http://schemas.openxmlformats.org/drawingml/2006/main">
            <a:off x="1381125" y="1990725"/>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Clone writeback catalogue definitions into GMR_ATG_TRN.</a:t>
            </a:r>
          </a:p>
        </p:txBody>
      </p:sp>
      <p:sp>
        <p:nvSpPr>
          <p:cNvPr id="6" name="">
            <a:extLst xmlns:a="http://schemas.openxmlformats.org/drawingml/2006/main">
              <a:ext uri="{FF2B5EF4-FFF2-40B4-BE49-F238E27FC236}">
                <a16:creationId xmlns:a16="http://schemas.microsoft.com/office/drawing/2014/main" id="{06F6DC09-C183-4F6F-A53C-4FF6710C3FC4}"/>
              </a:ext>
            </a:extLst>
          </p:cNvPr>
          <p:cNvSpPr>
            <a:spLocks xmlns:a="http://schemas.openxmlformats.org/drawingml/2006/main" noGrp="1"/>
          </p:cNvSpPr>
          <p:nvPr/>
        </p:nvSpPr>
        <p:spPr>
          <a:xfrm xmlns:a="http://schemas.openxmlformats.org/drawingml/2006/main">
            <a:off x="628650" y="29051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D01A808F-51B1-48AD-91E8-73114E191848}"/>
              </a:ext>
            </a:extLst>
          </p:cNvPr>
          <p:cNvSpPr>
            <a:spLocks xmlns:a="http://schemas.openxmlformats.org/drawingml/2006/main" noGrp="1"/>
          </p:cNvSpPr>
          <p:nvPr/>
        </p:nvSpPr>
        <p:spPr>
          <a:xfrm xmlns:a="http://schemas.openxmlformats.org/drawingml/2006/main">
            <a:off x="1381125" y="29051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Include ATG derived properties</a:t>
            </a:r>
          </a:p>
        </p:txBody>
      </p:sp>
      <p:sp>
        <p:nvSpPr>
          <p:cNvPr id="8" name="">
            <a:extLst xmlns:a="http://schemas.openxmlformats.org/drawingml/2006/main">
              <a:ext uri="{FF2B5EF4-FFF2-40B4-BE49-F238E27FC236}">
                <a16:creationId xmlns:a16="http://schemas.microsoft.com/office/drawing/2014/main" id="{443E65AD-EF0F-4F76-BBE1-BBEC9ADEB343}"/>
              </a:ext>
            </a:extLst>
          </p:cNvPr>
          <p:cNvSpPr>
            <a:spLocks xmlns:a="http://schemas.openxmlformats.org/drawingml/2006/main" noGrp="1"/>
          </p:cNvSpPr>
          <p:nvPr/>
        </p:nvSpPr>
        <p:spPr>
          <a:xfrm xmlns:a="http://schemas.openxmlformats.org/drawingml/2006/main">
            <a:off x="1381125" y="337185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Expose the derived values needed in the transaction view output.</a:t>
            </a:r>
          </a:p>
        </p:txBody>
      </p:sp>
      <p:sp>
        <p:nvSpPr>
          <p:cNvPr id="9" name="">
            <a:extLst xmlns:a="http://schemas.openxmlformats.org/drawingml/2006/main">
              <a:ext uri="{FF2B5EF4-FFF2-40B4-BE49-F238E27FC236}">
                <a16:creationId xmlns:a16="http://schemas.microsoft.com/office/drawing/2014/main" id="{5964D467-4E43-4D85-A8CB-FE15693EEB4C}"/>
              </a:ext>
            </a:extLst>
          </p:cNvPr>
          <p:cNvSpPr>
            <a:spLocks xmlns:a="http://schemas.openxmlformats.org/drawingml/2006/main" noGrp="1"/>
          </p:cNvSpPr>
          <p:nvPr/>
        </p:nvSpPr>
        <p:spPr>
          <a:xfrm xmlns:a="http://schemas.openxmlformats.org/drawingml/2006/main">
            <a:off x="628650" y="42862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C931EF0-38EE-418D-BE5F-295B99D13229}"/>
              </a:ext>
            </a:extLst>
          </p:cNvPr>
          <p:cNvSpPr>
            <a:spLocks xmlns:a="http://schemas.openxmlformats.org/drawingml/2006/main" noGrp="1"/>
          </p:cNvSpPr>
          <p:nvPr/>
        </p:nvSpPr>
        <p:spPr>
          <a:xfrm xmlns:a="http://schemas.openxmlformats.org/drawingml/2006/main">
            <a:off x="1381125" y="42862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Populate FBN_TRN</a:t>
            </a:r>
          </a:p>
        </p:txBody>
      </p:sp>
      <p:sp>
        <p:nvSpPr>
          <p:cNvPr id="11" name="">
            <a:extLst xmlns:a="http://schemas.openxmlformats.org/drawingml/2006/main">
              <a:ext uri="{FF2B5EF4-FFF2-40B4-BE49-F238E27FC236}">
                <a16:creationId xmlns:a16="http://schemas.microsoft.com/office/drawing/2014/main" id="{B7A4AE17-6D96-4E2B-91E3-2B643EEBA469}"/>
              </a:ext>
            </a:extLst>
          </p:cNvPr>
          <p:cNvSpPr>
            <a:spLocks xmlns:a="http://schemas.openxmlformats.org/drawingml/2006/main" noGrp="1"/>
          </p:cNvSpPr>
          <p:nvPr/>
        </p:nvSpPr>
        <p:spPr>
          <a:xfrm xmlns:a="http://schemas.openxmlformats.org/drawingml/2006/main">
            <a:off x="1381125" y="4752975"/>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The recurring FBN scheduler executes the views and inserts the output.</a:t>
            </a:r>
          </a:p>
        </p:txBody>
      </p:sp>
      <p:sp>
        <p:nvSpPr>
          <p:cNvPr id="12" name="">
            <a:extLst xmlns:a="http://schemas.openxmlformats.org/drawingml/2006/main">
              <a:ext uri="{FF2B5EF4-FFF2-40B4-BE49-F238E27FC236}">
                <a16:creationId xmlns:a16="http://schemas.microsoft.com/office/drawing/2014/main" id="{1C793C9D-B4C2-4AE2-A321-E7A7382AF4A8}"/>
              </a:ext>
            </a:extLst>
          </p:cNvPr>
          <p:cNvSpPr>
            <a:spLocks xmlns:a="http://schemas.openxmlformats.org/drawingml/2006/main" noGrp="1"/>
          </p:cNvSpPr>
          <p:nvPr/>
        </p:nvSpPr>
        <p:spPr>
          <a:xfrm xmlns:a="http://schemas.openxmlformats.org/drawingml/2006/main">
            <a:off x="628650" y="59055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007F78"/>
                </a:solidFill>
                <a:latin typeface="Arial"/>
                <a:ea typeface="Arial"/>
                <a:cs typeface="Arial"/>
              </a:defRPr>
            </a:pPr>
            <a:r>
              <a:rPr sz="1725" b="0">
                <a:solidFill>
                  <a:srgbClr val="007F78"/>
                </a:solidFill>
                <a:latin typeface="Arial"/>
                <a:ea typeface="Arial"/>
                <a:cs typeface="Arial"/>
              </a:rPr>
              <a:t>Discussion: catalogue changes, derived property consistency, and load strategy</a:t>
            </a:r>
          </a:p>
        </p:txBody>
      </p:sp>
    </p:spTree>
    <p:extLst>
      <p:ext uri="{BB962C8B-B14F-4D97-AF65-F5344CB8AC3E}">
        <p14:creationId xmlns:p14="http://schemas.microsoft.com/office/powerpoint/2010/main" val="19736234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3F9E53-42CF-443A-9F1F-1002BEAE9320}"/>
              </a:ext>
            </a:extLst>
          </p:cNvPr>
          <p:cNvSpPr>
            <a:spLocks xmlns:a="http://schemas.openxmlformats.org/drawingml/2006/main" noGrp="1"/>
          </p:cNvSpPr>
          <p:nvPr/>
        </p:nvSpPr>
        <p:spPr>
          <a:xfrm xmlns:a="http://schemas.openxmlformats.org/drawingml/2006/main">
            <a:off x="6096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3"/>
                </a:solidFill>
                <a:latin typeface="Arial"/>
                <a:ea typeface="Arial"/>
                <a:cs typeface="Arial"/>
              </a:defRPr>
            </a:pPr>
            <a:r>
              <a:rPr sz="3300" b="1">
                <a:solidFill>
                  <a:srgbClr val="142D43"/>
                </a:solidFill>
                <a:latin typeface="Arial"/>
                <a:ea typeface="Arial"/>
                <a:cs typeface="Arial"/>
              </a:rPr>
              <a:t>Physical tables and the existing GMR flow</a:t>
            </a:r>
          </a:p>
        </p:txBody>
      </p:sp>
      <p:sp>
        <p:nvSpPr>
          <p:cNvPr id="2" name="">
            <a:extLst xmlns:a="http://schemas.openxmlformats.org/drawingml/2006/main">
              <a:ext uri="{FF2B5EF4-FFF2-40B4-BE49-F238E27FC236}">
                <a16:creationId xmlns:a16="http://schemas.microsoft.com/office/drawing/2014/main" id="{E1ABFFA0-AF3F-43F4-B738-AE6513A61EB9}"/>
              </a:ext>
            </a:extLst>
          </p:cNvPr>
          <p:cNvSpPr>
            <a:spLocks xmlns:a="http://schemas.openxmlformats.org/drawingml/2006/main" noGrp="1"/>
          </p:cNvSpPr>
          <p:nvPr/>
        </p:nvSpPr>
        <p:spPr>
          <a:xfrm xmlns:a="http://schemas.openxmlformats.org/drawingml/2006/main">
            <a:off x="11144250" y="6315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F461D1D-8DE3-411C-A74E-94B2320089BE}"/>
              </a:ext>
            </a:extLst>
          </p:cNvPr>
          <p:cNvSpPr>
            <a:spLocks xmlns:a="http://schemas.openxmlformats.org/drawingml/2006/main" noGrp="1"/>
          </p:cNvSpPr>
          <p:nvPr/>
        </p:nvSpPr>
        <p:spPr>
          <a:xfrm xmlns:a="http://schemas.openxmlformats.org/drawingml/2006/main">
            <a:off x="628650" y="16192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07C83C6-34AC-493B-B0CF-29D6EB816E34}"/>
              </a:ext>
            </a:extLst>
          </p:cNvPr>
          <p:cNvSpPr>
            <a:spLocks xmlns:a="http://schemas.openxmlformats.org/drawingml/2006/main" noGrp="1"/>
          </p:cNvSpPr>
          <p:nvPr/>
        </p:nvSpPr>
        <p:spPr>
          <a:xfrm xmlns:a="http://schemas.openxmlformats.org/drawingml/2006/main">
            <a:off x="1381125" y="16192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FBN_TRN</a:t>
            </a:r>
          </a:p>
        </p:txBody>
      </p:sp>
      <p:sp>
        <p:nvSpPr>
          <p:cNvPr id="5" name="">
            <a:extLst xmlns:a="http://schemas.openxmlformats.org/drawingml/2006/main">
              <a:ext uri="{FF2B5EF4-FFF2-40B4-BE49-F238E27FC236}">
                <a16:creationId xmlns:a16="http://schemas.microsoft.com/office/drawing/2014/main" id="{15354589-331B-44A4-AF73-D3C8321748BA}"/>
              </a:ext>
            </a:extLst>
          </p:cNvPr>
          <p:cNvSpPr>
            <a:spLocks xmlns:a="http://schemas.openxmlformats.org/drawingml/2006/main" noGrp="1"/>
          </p:cNvSpPr>
          <p:nvPr/>
        </p:nvSpPr>
        <p:spPr>
          <a:xfrm xmlns:a="http://schemas.openxmlformats.org/drawingml/2006/main">
            <a:off x="1381125" y="2085975"/>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ATG view output, inserted by the FBN scheduler.</a:t>
            </a:r>
          </a:p>
        </p:txBody>
      </p:sp>
      <p:sp>
        <p:nvSpPr>
          <p:cNvPr id="6" name="">
            <a:extLst xmlns:a="http://schemas.openxmlformats.org/drawingml/2006/main">
              <a:ext uri="{FF2B5EF4-FFF2-40B4-BE49-F238E27FC236}">
                <a16:creationId xmlns:a16="http://schemas.microsoft.com/office/drawing/2014/main" id="{29B67CDA-97B0-4CAC-8FFC-AC418338DD95}"/>
              </a:ext>
            </a:extLst>
          </p:cNvPr>
          <p:cNvSpPr>
            <a:spLocks xmlns:a="http://schemas.openxmlformats.org/drawingml/2006/main" noGrp="1"/>
          </p:cNvSpPr>
          <p:nvPr/>
        </p:nvSpPr>
        <p:spPr>
          <a:xfrm xmlns:a="http://schemas.openxmlformats.org/drawingml/2006/main">
            <a:off x="628650" y="30480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DFEBEE9-02AF-422B-810A-FFCE89D886E5}"/>
              </a:ext>
            </a:extLst>
          </p:cNvPr>
          <p:cNvSpPr>
            <a:spLocks xmlns:a="http://schemas.openxmlformats.org/drawingml/2006/main" noGrp="1"/>
          </p:cNvSpPr>
          <p:nvPr/>
        </p:nvSpPr>
        <p:spPr>
          <a:xfrm xmlns:a="http://schemas.openxmlformats.org/drawingml/2006/main">
            <a:off x="1381125" y="304800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GMR_TRN</a:t>
            </a:r>
          </a:p>
        </p:txBody>
      </p:sp>
      <p:sp>
        <p:nvSpPr>
          <p:cNvPr id="8" name="">
            <a:extLst xmlns:a="http://schemas.openxmlformats.org/drawingml/2006/main">
              <a:ext uri="{FF2B5EF4-FFF2-40B4-BE49-F238E27FC236}">
                <a16:creationId xmlns:a16="http://schemas.microsoft.com/office/drawing/2014/main" id="{FA83772E-90A9-4753-A576-826B5051FEB7}"/>
              </a:ext>
            </a:extLst>
          </p:cNvPr>
          <p:cNvSpPr>
            <a:spLocks xmlns:a="http://schemas.openxmlformats.org/drawingml/2006/main" noGrp="1"/>
          </p:cNvSpPr>
          <p:nvPr/>
        </p:nvSpPr>
        <p:spPr>
          <a:xfrm xmlns:a="http://schemas.openxmlformats.org/drawingml/2006/main">
            <a:off x="1381125" y="3514725"/>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Transaction records, inserted or updated by existing GMR writeback.</a:t>
            </a:r>
          </a:p>
        </p:txBody>
      </p:sp>
      <p:sp>
        <p:nvSpPr>
          <p:cNvPr id="9" name="">
            <a:extLst xmlns:a="http://schemas.openxmlformats.org/drawingml/2006/main">
              <a:ext uri="{FF2B5EF4-FFF2-40B4-BE49-F238E27FC236}">
                <a16:creationId xmlns:a16="http://schemas.microsoft.com/office/drawing/2014/main" id="{83242506-5C33-4A15-919F-A0849591AA00}"/>
              </a:ext>
            </a:extLst>
          </p:cNvPr>
          <p:cNvSpPr>
            <a:spLocks xmlns:a="http://schemas.openxmlformats.org/drawingml/2006/main" noGrp="1"/>
          </p:cNvSpPr>
          <p:nvPr/>
        </p:nvSpPr>
        <p:spPr>
          <a:xfrm xmlns:a="http://schemas.openxmlformats.org/drawingml/2006/main">
            <a:off x="628650" y="447675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072C449-707E-4A38-B5F9-0570B7FD1776}"/>
              </a:ext>
            </a:extLst>
          </p:cNvPr>
          <p:cNvSpPr>
            <a:spLocks xmlns:a="http://schemas.openxmlformats.org/drawingml/2006/main" noGrp="1"/>
          </p:cNvSpPr>
          <p:nvPr/>
        </p:nvSpPr>
        <p:spPr>
          <a:xfrm xmlns:a="http://schemas.openxmlformats.org/drawingml/2006/main">
            <a:off x="1381125" y="44767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RECON_ATG_TRN</a:t>
            </a:r>
          </a:p>
        </p:txBody>
      </p:sp>
      <p:sp>
        <p:nvSpPr>
          <p:cNvPr id="11" name="">
            <a:extLst xmlns:a="http://schemas.openxmlformats.org/drawingml/2006/main">
              <a:ext uri="{FF2B5EF4-FFF2-40B4-BE49-F238E27FC236}">
                <a16:creationId xmlns:a16="http://schemas.microsoft.com/office/drawing/2014/main" id="{E905D2E2-9795-44DC-A271-CDFECAE30E8C}"/>
              </a:ext>
            </a:extLst>
          </p:cNvPr>
          <p:cNvSpPr>
            <a:spLocks xmlns:a="http://schemas.openxmlformats.org/drawingml/2006/main" noGrp="1"/>
          </p:cNvSpPr>
          <p:nvPr/>
        </p:nvSpPr>
        <p:spPr>
          <a:xfrm xmlns:a="http://schemas.openxmlformats.org/drawingml/2006/main">
            <a:off x="1381125" y="4943475"/>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Comparison results, inserted by the Recon scheduler and read by Power BI.</a:t>
            </a:r>
          </a:p>
        </p:txBody>
      </p:sp>
    </p:spTree>
    <p:extLst>
      <p:ext uri="{BB962C8B-B14F-4D97-AF65-F5344CB8AC3E}">
        <p14:creationId xmlns:p14="http://schemas.microsoft.com/office/powerpoint/2010/main" val="9405922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697EA0A-ED1F-410C-B2A3-692CB5B34656}"/>
              </a:ext>
            </a:extLst>
          </p:cNvPr>
          <p:cNvSpPr>
            <a:spLocks xmlns:a="http://schemas.openxmlformats.org/drawingml/2006/main" noGrp="1"/>
          </p:cNvSpPr>
          <p:nvPr/>
        </p:nvSpPr>
        <p:spPr>
          <a:xfrm xmlns:a="http://schemas.openxmlformats.org/drawingml/2006/main">
            <a:off x="6096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3"/>
                </a:solidFill>
                <a:latin typeface="Arial"/>
                <a:ea typeface="Arial"/>
                <a:cs typeface="Arial"/>
              </a:defRPr>
            </a:pPr>
            <a:r>
              <a:rPr sz="3300" b="1">
                <a:solidFill>
                  <a:srgbClr val="142D43"/>
                </a:solidFill>
                <a:latin typeface="Arial"/>
                <a:ea typeface="Arial"/>
                <a:cs typeface="Arial"/>
              </a:rPr>
              <a:t>Recon views and result classification</a:t>
            </a:r>
          </a:p>
        </p:txBody>
      </p:sp>
      <p:sp>
        <p:nvSpPr>
          <p:cNvPr id="2" name="">
            <a:extLst xmlns:a="http://schemas.openxmlformats.org/drawingml/2006/main">
              <a:ext uri="{FF2B5EF4-FFF2-40B4-BE49-F238E27FC236}">
                <a16:creationId xmlns:a16="http://schemas.microsoft.com/office/drawing/2014/main" id="{3E00B482-1BDB-414E-8687-5DDA46389208}"/>
              </a:ext>
            </a:extLst>
          </p:cNvPr>
          <p:cNvSpPr>
            <a:spLocks xmlns:a="http://schemas.openxmlformats.org/drawingml/2006/main" noGrp="1"/>
          </p:cNvSpPr>
          <p:nvPr/>
        </p:nvSpPr>
        <p:spPr>
          <a:xfrm xmlns:a="http://schemas.openxmlformats.org/drawingml/2006/main">
            <a:off x="11144250" y="6315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60C3E36-CA96-44F5-9FB2-D1CEB122DED5}"/>
              </a:ext>
            </a:extLst>
          </p:cNvPr>
          <p:cNvSpPr>
            <a:spLocks xmlns:a="http://schemas.openxmlformats.org/drawingml/2006/main" noGrp="1"/>
          </p:cNvSpPr>
          <p:nvPr/>
        </p:nvSpPr>
        <p:spPr>
          <a:xfrm xmlns:a="http://schemas.openxmlformats.org/drawingml/2006/main">
            <a:off x="647700" y="16668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3764B"/>
                </a:solidFill>
                <a:latin typeface="Arial"/>
                <a:ea typeface="Arial"/>
                <a:cs typeface="Arial"/>
              </a:defRPr>
            </a:pPr>
            <a:r>
              <a:rPr sz="2400" b="1">
                <a:solidFill>
                  <a:srgbClr val="23764B"/>
                </a:solidFill>
                <a:latin typeface="Arial"/>
                <a:ea typeface="Arial"/>
                <a:cs typeface="Arial"/>
              </a:rPr>
              <a:t>MATCHED</a:t>
            </a:r>
          </a:p>
        </p:txBody>
      </p:sp>
      <p:sp>
        <p:nvSpPr>
          <p:cNvPr id="4" name="">
            <a:extLst xmlns:a="http://schemas.openxmlformats.org/drawingml/2006/main">
              <a:ext uri="{FF2B5EF4-FFF2-40B4-BE49-F238E27FC236}">
                <a16:creationId xmlns:a16="http://schemas.microsoft.com/office/drawing/2014/main" id="{1849F3E2-9B84-4B16-8402-96B04D32395D}"/>
              </a:ext>
            </a:extLst>
          </p:cNvPr>
          <p:cNvSpPr>
            <a:spLocks xmlns:a="http://schemas.openxmlformats.org/drawingml/2006/main" noGrp="1"/>
          </p:cNvSpPr>
          <p:nvPr/>
        </p:nvSpPr>
        <p:spPr>
          <a:xfrm xmlns:a="http://schemas.openxmlformats.org/drawingml/2006/main">
            <a:off x="4286250" y="1666875"/>
            <a:ext cx="709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Record exists on both sides.</a:t>
            </a:r>
          </a:p>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Compared values agree.</a:t>
            </a:r>
          </a:p>
        </p:txBody>
      </p:sp>
      <p:sp>
        <p:nvSpPr>
          <p:cNvPr id="5" name="">
            <a:extLst xmlns:a="http://schemas.openxmlformats.org/drawingml/2006/main">
              <a:ext uri="{FF2B5EF4-FFF2-40B4-BE49-F238E27FC236}">
                <a16:creationId xmlns:a16="http://schemas.microsoft.com/office/drawing/2014/main" id="{DFD21036-8FE4-4F1D-A15E-B79BC17D9CBE}"/>
              </a:ext>
            </a:extLst>
          </p:cNvPr>
          <p:cNvSpPr>
            <a:spLocks xmlns:a="http://schemas.openxmlformats.org/drawingml/2006/main" noGrp="1"/>
          </p:cNvSpPr>
          <p:nvPr/>
        </p:nvSpPr>
        <p:spPr>
          <a:xfrm xmlns:a="http://schemas.openxmlformats.org/drawingml/2006/main">
            <a:off x="647700" y="309562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76700"/>
                </a:solidFill>
                <a:latin typeface="Arial"/>
                <a:ea typeface="Arial"/>
                <a:cs typeface="Arial"/>
              </a:defRPr>
            </a:pPr>
            <a:r>
              <a:rPr sz="2400" b="1">
                <a:solidFill>
                  <a:srgbClr val="A76700"/>
                </a:solidFill>
                <a:latin typeface="Arial"/>
                <a:ea typeface="Arial"/>
                <a:cs typeface="Arial"/>
              </a:rPr>
              <a:t>MISMATCHED</a:t>
            </a:r>
          </a:p>
        </p:txBody>
      </p:sp>
      <p:sp>
        <p:nvSpPr>
          <p:cNvPr id="6" name="">
            <a:extLst xmlns:a="http://schemas.openxmlformats.org/drawingml/2006/main">
              <a:ext uri="{FF2B5EF4-FFF2-40B4-BE49-F238E27FC236}">
                <a16:creationId xmlns:a16="http://schemas.microsoft.com/office/drawing/2014/main" id="{11B1F63B-6309-411A-8E85-27DC5A245169}"/>
              </a:ext>
            </a:extLst>
          </p:cNvPr>
          <p:cNvSpPr>
            <a:spLocks xmlns:a="http://schemas.openxmlformats.org/drawingml/2006/main" noGrp="1"/>
          </p:cNvSpPr>
          <p:nvPr/>
        </p:nvSpPr>
        <p:spPr>
          <a:xfrm xmlns:a="http://schemas.openxmlformats.org/drawingml/2006/main">
            <a:off x="4286250" y="3095625"/>
            <a:ext cx="709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Record exists on both sides.</a:t>
            </a:r>
          </a:p>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One or more compared values differ.</a:t>
            </a:r>
          </a:p>
        </p:txBody>
      </p:sp>
      <p:sp>
        <p:nvSpPr>
          <p:cNvPr id="7" name="">
            <a:extLst xmlns:a="http://schemas.openxmlformats.org/drawingml/2006/main">
              <a:ext uri="{FF2B5EF4-FFF2-40B4-BE49-F238E27FC236}">
                <a16:creationId xmlns:a16="http://schemas.microsoft.com/office/drawing/2014/main" id="{830CE3A4-9605-468F-A145-2BF439592D7D}"/>
              </a:ext>
            </a:extLst>
          </p:cNvPr>
          <p:cNvSpPr>
            <a:spLocks xmlns:a="http://schemas.openxmlformats.org/drawingml/2006/main" noGrp="1"/>
          </p:cNvSpPr>
          <p:nvPr/>
        </p:nvSpPr>
        <p:spPr>
          <a:xfrm xmlns:a="http://schemas.openxmlformats.org/drawingml/2006/main">
            <a:off x="647700" y="45243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D3945"/>
                </a:solidFill>
                <a:latin typeface="Arial"/>
                <a:ea typeface="Arial"/>
                <a:cs typeface="Arial"/>
              </a:defRPr>
            </a:pPr>
            <a:r>
              <a:rPr sz="2400" b="1">
                <a:solidFill>
                  <a:srgbClr val="AD3945"/>
                </a:solidFill>
                <a:latin typeface="Arial"/>
                <a:ea typeface="Arial"/>
                <a:cs typeface="Arial"/>
              </a:rPr>
              <a:t>MISSING</a:t>
            </a:r>
          </a:p>
        </p:txBody>
      </p:sp>
      <p:sp>
        <p:nvSpPr>
          <p:cNvPr id="8" name="">
            <a:extLst xmlns:a="http://schemas.openxmlformats.org/drawingml/2006/main">
              <a:ext uri="{FF2B5EF4-FFF2-40B4-BE49-F238E27FC236}">
                <a16:creationId xmlns:a16="http://schemas.microsoft.com/office/drawing/2014/main" id="{0A83BB93-975E-4EAB-AAC0-B4FC68DDB19B}"/>
              </a:ext>
            </a:extLst>
          </p:cNvPr>
          <p:cNvSpPr>
            <a:spLocks xmlns:a="http://schemas.openxmlformats.org/drawingml/2006/main" noGrp="1"/>
          </p:cNvSpPr>
          <p:nvPr/>
        </p:nvSpPr>
        <p:spPr>
          <a:xfrm xmlns:a="http://schemas.openxmlformats.org/drawingml/2006/main">
            <a:off x="4286250" y="4524375"/>
            <a:ext cx="709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Record exists on only one side.</a:t>
            </a:r>
          </a:p>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Confirm which directions the views check.</a:t>
            </a:r>
          </a:p>
        </p:txBody>
      </p:sp>
      <p:sp>
        <p:nvSpPr>
          <p:cNvPr id="9" name="">
            <a:extLst xmlns:a="http://schemas.openxmlformats.org/drawingml/2006/main">
              <a:ext uri="{FF2B5EF4-FFF2-40B4-BE49-F238E27FC236}">
                <a16:creationId xmlns:a16="http://schemas.microsoft.com/office/drawing/2014/main" id="{CAE56B61-BF38-4A19-A3D1-67CA5D88D8F8}"/>
              </a:ext>
            </a:extLst>
          </p:cNvPr>
          <p:cNvSpPr>
            <a:spLocks xmlns:a="http://schemas.openxmlformats.org/drawingml/2006/main" noGrp="1"/>
          </p:cNvSpPr>
          <p:nvPr/>
        </p:nvSpPr>
        <p:spPr>
          <a:xfrm xmlns:a="http://schemas.openxmlformats.org/drawingml/2006/main">
            <a:off x="647700" y="59150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5"/>
                </a:solidFill>
                <a:latin typeface="Arial"/>
                <a:ea typeface="Arial"/>
                <a:cs typeface="Arial"/>
              </a:defRPr>
            </a:pPr>
            <a:r>
              <a:rPr sz="1725" b="0">
                <a:solidFill>
                  <a:srgbClr val="526575"/>
                </a:solidFill>
                <a:latin typeface="Arial"/>
                <a:ea typeface="Arial"/>
                <a:cs typeface="Arial"/>
              </a:rPr>
              <a:t>Rule details to confirm: business keys, compared fields, nulls, and tolerances</a:t>
            </a:r>
          </a:p>
        </p:txBody>
      </p:sp>
    </p:spTree>
    <p:extLst>
      <p:ext uri="{BB962C8B-B14F-4D97-AF65-F5344CB8AC3E}">
        <p14:creationId xmlns:p14="http://schemas.microsoft.com/office/powerpoint/2010/main" val="871515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p:cNvCxnSpPr>
            <a:stCxn xmlns:a="http://schemas.openxmlformats.org/drawingml/2006/main" id="6" idx="3"/>
            <a:endCxn xmlns:a="http://schemas.openxmlformats.org/drawingml/2006/main" id="9" idx="1"/>
          </p:cNvCxnSpPr>
          <p:nvPr/>
        </p:nvCxnSpPr>
        <p:spPr>
          <a:xfrm xmlns:a="http://schemas.openxmlformats.org/drawingml/2006/main">
            <a:off x="7667625" y="2619375"/>
            <a:ext cx="762000" cy="0"/>
          </a:xfrm>
          <a:prstGeom xmlns:a="http://schemas.openxmlformats.org/drawingml/2006/main" prst="straightConnector1">
            <a:avLst/>
          </a:prstGeom>
          <a:ln xmlns:a="http://schemas.openxmlformats.org/drawingml/2006/main" w="19050">
            <a:solidFill>
              <a:srgbClr val="526575"/>
            </a:solidFill>
            <a:prstDash val="solid"/>
            <a:tailEnd type="triangle" w="med" len="med"/>
          </a:ln>
        </p:spPr>
      </p:cxnSp>
      <p:cxnSp>
        <p:nvCxnSpPr>
          <p:cNvPr id="18" name=""/>
          <p:cNvCxnSpPr>
            <a:stCxn xmlns:a="http://schemas.openxmlformats.org/drawingml/2006/main" id="3" idx="3"/>
            <a:endCxn xmlns:a="http://schemas.openxmlformats.org/drawingml/2006/main" id="6" idx="1"/>
          </p:cNvCxnSpPr>
          <p:nvPr/>
        </p:nvCxnSpPr>
        <p:spPr>
          <a:xfrm xmlns:a="http://schemas.openxmlformats.org/drawingml/2006/main">
            <a:off x="3762375" y="2619375"/>
            <a:ext cx="762000" cy="0"/>
          </a:xfrm>
          <a:prstGeom xmlns:a="http://schemas.openxmlformats.org/drawingml/2006/main" prst="straightConnector1">
            <a:avLst/>
          </a:prstGeom>
          <a:ln xmlns:a="http://schemas.openxmlformats.org/drawingml/2006/main" w="19050">
            <a:solidFill>
              <a:srgbClr val="526575"/>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A375AC65-5C0F-49E5-ADFD-AF234F7CA01B}"/>
              </a:ext>
            </a:extLst>
          </p:cNvPr>
          <p:cNvSpPr>
            <a:spLocks xmlns:a="http://schemas.openxmlformats.org/drawingml/2006/main" noGrp="1"/>
          </p:cNvSpPr>
          <p:nvPr/>
        </p:nvSpPr>
        <p:spPr>
          <a:xfrm xmlns:a="http://schemas.openxmlformats.org/drawingml/2006/main">
            <a:off x="6096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3"/>
                </a:solidFill>
                <a:latin typeface="Arial"/>
                <a:ea typeface="Arial"/>
                <a:cs typeface="Arial"/>
              </a:defRPr>
            </a:pPr>
            <a:r>
              <a:rPr sz="3300" b="1">
                <a:solidFill>
                  <a:srgbClr val="142D43"/>
                </a:solidFill>
                <a:latin typeface="Arial"/>
                <a:ea typeface="Arial"/>
                <a:cs typeface="Arial"/>
              </a:rPr>
              <a:t>Recon scheduler and result persistence</a:t>
            </a:r>
          </a:p>
        </p:txBody>
      </p:sp>
      <p:sp>
        <p:nvSpPr>
          <p:cNvPr id="2" name="">
            <a:extLst xmlns:a="http://schemas.openxmlformats.org/drawingml/2006/main">
              <a:ext uri="{FF2B5EF4-FFF2-40B4-BE49-F238E27FC236}">
                <a16:creationId xmlns:a16="http://schemas.microsoft.com/office/drawing/2014/main" id="{523F2274-0066-4DFF-8AE6-CB5C2E53C924}"/>
              </a:ext>
            </a:extLst>
          </p:cNvPr>
          <p:cNvSpPr>
            <a:spLocks xmlns:a="http://schemas.openxmlformats.org/drawingml/2006/main" noGrp="1"/>
          </p:cNvSpPr>
          <p:nvPr/>
        </p:nvSpPr>
        <p:spPr>
          <a:xfrm xmlns:a="http://schemas.openxmlformats.org/drawingml/2006/main">
            <a:off x="11144250" y="6315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3C4F57B-9B06-4932-BA44-54D21F18596B}"/>
              </a:ext>
            </a:extLst>
          </p:cNvPr>
          <p:cNvSpPr>
            <a:spLocks xmlns:a="http://schemas.openxmlformats.org/drawingml/2006/main" noGrp="1"/>
          </p:cNvSpPr>
          <p:nvPr/>
        </p:nvSpPr>
        <p:spPr>
          <a:xfrm xmlns:a="http://schemas.openxmlformats.org/drawingml/2006/main">
            <a:off x="619125" y="2047875"/>
            <a:ext cx="3143250" cy="1143000"/>
          </a:xfrm>
          <a:prstGeom xmlns:a="http://schemas.openxmlformats.org/drawingml/2006/main" prst="rect">
            <a:avLst/>
          </a:prstGeom>
          <a:solidFill xmlns:a="http://schemas.openxmlformats.org/drawingml/2006/main">
            <a:srgbClr val="EDF5FA"/>
          </a:solidFill>
          <a:ln xmlns:a="http://schemas.openxmlformats.org/drawingml/2006/main" w="19050">
            <a:solidFill>
              <a:srgbClr val="1469A2"/>
            </a:solidFill>
          </a:ln>
        </p:spPr>
      </p:sp>
      <p:sp>
        <p:nvSpPr>
          <p:cNvPr id="4" name="">
            <a:extLst xmlns:a="http://schemas.openxmlformats.org/drawingml/2006/main">
              <a:ext uri="{FF2B5EF4-FFF2-40B4-BE49-F238E27FC236}">
                <a16:creationId xmlns:a16="http://schemas.microsoft.com/office/drawing/2014/main" id="{F545537B-7949-40A6-824D-0DADB9EBDF0F}"/>
              </a:ext>
            </a:extLst>
          </p:cNvPr>
          <p:cNvSpPr>
            <a:spLocks xmlns:a="http://schemas.openxmlformats.org/drawingml/2006/main" noGrp="1"/>
          </p:cNvSpPr>
          <p:nvPr/>
        </p:nvSpPr>
        <p:spPr>
          <a:xfrm xmlns:a="http://schemas.openxmlformats.org/drawingml/2006/main">
            <a:off x="733425" y="216217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69A2"/>
                </a:solidFill>
                <a:latin typeface="Arial"/>
                <a:ea typeface="Arial"/>
                <a:cs typeface="Arial"/>
              </a:defRPr>
            </a:pPr>
            <a:r>
              <a:rPr sz="1800" b="1">
                <a:solidFill>
                  <a:srgbClr val="1469A2"/>
                </a:solidFill>
                <a:latin typeface="Arial"/>
                <a:ea typeface="Arial"/>
                <a:cs typeface="Arial"/>
              </a:rPr>
              <a:t>Recon views</a:t>
            </a:r>
          </a:p>
        </p:txBody>
      </p:sp>
      <p:sp>
        <p:nvSpPr>
          <p:cNvPr id="5" name="">
            <a:extLst xmlns:a="http://schemas.openxmlformats.org/drawingml/2006/main">
              <a:ext uri="{FF2B5EF4-FFF2-40B4-BE49-F238E27FC236}">
                <a16:creationId xmlns:a16="http://schemas.microsoft.com/office/drawing/2014/main" id="{03C69218-DCBB-4617-92FE-E52F329D772D}"/>
              </a:ext>
            </a:extLst>
          </p:cNvPr>
          <p:cNvSpPr>
            <a:spLocks xmlns:a="http://schemas.openxmlformats.org/drawingml/2006/main" noGrp="1"/>
          </p:cNvSpPr>
          <p:nvPr/>
        </p:nvSpPr>
        <p:spPr>
          <a:xfrm xmlns:a="http://schemas.openxmlformats.org/drawingml/2006/main">
            <a:off x="733425" y="2543175"/>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Compare physical inputs</a:t>
            </a:r>
          </a:p>
        </p:txBody>
      </p:sp>
      <p:sp>
        <p:nvSpPr>
          <p:cNvPr id="6" name="">
            <a:extLst xmlns:a="http://schemas.openxmlformats.org/drawingml/2006/main">
              <a:ext uri="{FF2B5EF4-FFF2-40B4-BE49-F238E27FC236}">
                <a16:creationId xmlns:a16="http://schemas.microsoft.com/office/drawing/2014/main" id="{0E18496F-DDFF-41BA-BF48-95E1375E95FC}"/>
              </a:ext>
            </a:extLst>
          </p:cNvPr>
          <p:cNvSpPr>
            <a:spLocks xmlns:a="http://schemas.openxmlformats.org/drawingml/2006/main" noGrp="1"/>
          </p:cNvSpPr>
          <p:nvPr/>
        </p:nvSpPr>
        <p:spPr>
          <a:xfrm xmlns:a="http://schemas.openxmlformats.org/drawingml/2006/main">
            <a:off x="4524375" y="2047875"/>
            <a:ext cx="3143250" cy="1143000"/>
          </a:xfrm>
          <a:prstGeom xmlns:a="http://schemas.openxmlformats.org/drawingml/2006/main" prst="rect">
            <a:avLst/>
          </a:prstGeom>
          <a:solidFill xmlns:a="http://schemas.openxmlformats.org/drawingml/2006/main">
            <a:srgbClr val="EDF5FA"/>
          </a:solidFill>
          <a:ln xmlns:a="http://schemas.openxmlformats.org/drawingml/2006/main" w="19050">
            <a:solidFill>
              <a:srgbClr val="007F78"/>
            </a:solidFill>
          </a:ln>
        </p:spPr>
      </p:sp>
      <p:sp>
        <p:nvSpPr>
          <p:cNvPr id="7" name="">
            <a:extLst xmlns:a="http://schemas.openxmlformats.org/drawingml/2006/main">
              <a:ext uri="{FF2B5EF4-FFF2-40B4-BE49-F238E27FC236}">
                <a16:creationId xmlns:a16="http://schemas.microsoft.com/office/drawing/2014/main" id="{BED045E8-F060-431A-889D-FE1FD3893859}"/>
              </a:ext>
            </a:extLst>
          </p:cNvPr>
          <p:cNvSpPr>
            <a:spLocks xmlns:a="http://schemas.openxmlformats.org/drawingml/2006/main" noGrp="1"/>
          </p:cNvSpPr>
          <p:nvPr/>
        </p:nvSpPr>
        <p:spPr>
          <a:xfrm xmlns:a="http://schemas.openxmlformats.org/drawingml/2006/main">
            <a:off x="4638675" y="216217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F78"/>
                </a:solidFill>
                <a:latin typeface="Arial"/>
                <a:ea typeface="Arial"/>
                <a:cs typeface="Arial"/>
              </a:defRPr>
            </a:pPr>
            <a:r>
              <a:rPr sz="1800" b="1">
                <a:solidFill>
                  <a:srgbClr val="007F78"/>
                </a:solidFill>
                <a:latin typeface="Arial"/>
                <a:ea typeface="Arial"/>
                <a:cs typeface="Arial"/>
              </a:rPr>
              <a:t>Recon Scheduler</a:t>
            </a:r>
          </a:p>
        </p:txBody>
      </p:sp>
      <p:sp>
        <p:nvSpPr>
          <p:cNvPr id="8" name="">
            <a:extLst xmlns:a="http://schemas.openxmlformats.org/drawingml/2006/main">
              <a:ext uri="{FF2B5EF4-FFF2-40B4-BE49-F238E27FC236}">
                <a16:creationId xmlns:a16="http://schemas.microsoft.com/office/drawing/2014/main" id="{DFD88D45-F44E-4BDA-8874-EE2009B4DD84}"/>
              </a:ext>
            </a:extLst>
          </p:cNvPr>
          <p:cNvSpPr>
            <a:spLocks xmlns:a="http://schemas.openxmlformats.org/drawingml/2006/main" noGrp="1"/>
          </p:cNvSpPr>
          <p:nvPr/>
        </p:nvSpPr>
        <p:spPr>
          <a:xfrm xmlns:a="http://schemas.openxmlformats.org/drawingml/2006/main">
            <a:off x="4638675" y="2543175"/>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Execute + insert results</a:t>
            </a:r>
          </a:p>
        </p:txBody>
      </p:sp>
      <p:sp>
        <p:nvSpPr>
          <p:cNvPr id="9" name="">
            <a:extLst xmlns:a="http://schemas.openxmlformats.org/drawingml/2006/main">
              <a:ext uri="{FF2B5EF4-FFF2-40B4-BE49-F238E27FC236}">
                <a16:creationId xmlns:a16="http://schemas.microsoft.com/office/drawing/2014/main" id="{47EB0D89-64B1-429C-A3BA-46AE1D61AA9B}"/>
              </a:ext>
            </a:extLst>
          </p:cNvPr>
          <p:cNvSpPr>
            <a:spLocks xmlns:a="http://schemas.openxmlformats.org/drawingml/2006/main" noGrp="1"/>
          </p:cNvSpPr>
          <p:nvPr/>
        </p:nvSpPr>
        <p:spPr>
          <a:xfrm xmlns:a="http://schemas.openxmlformats.org/drawingml/2006/main">
            <a:off x="8429625" y="2047875"/>
            <a:ext cx="3143250" cy="1143000"/>
          </a:xfrm>
          <a:prstGeom xmlns:a="http://schemas.openxmlformats.org/drawingml/2006/main" prst="rect">
            <a:avLst/>
          </a:prstGeom>
          <a:solidFill xmlns:a="http://schemas.openxmlformats.org/drawingml/2006/main">
            <a:srgbClr val="EDF5FA"/>
          </a:solidFill>
          <a:ln xmlns:a="http://schemas.openxmlformats.org/drawingml/2006/main" w="19050">
            <a:solidFill>
              <a:srgbClr val="1469A2"/>
            </a:solidFill>
          </a:ln>
        </p:spPr>
      </p:sp>
      <p:sp>
        <p:nvSpPr>
          <p:cNvPr id="10" name="">
            <a:extLst xmlns:a="http://schemas.openxmlformats.org/drawingml/2006/main">
              <a:ext uri="{FF2B5EF4-FFF2-40B4-BE49-F238E27FC236}">
                <a16:creationId xmlns:a16="http://schemas.microsoft.com/office/drawing/2014/main" id="{1EE469F1-2C7C-42D2-966B-A0AF51BBE63A}"/>
              </a:ext>
            </a:extLst>
          </p:cNvPr>
          <p:cNvSpPr>
            <a:spLocks xmlns:a="http://schemas.openxmlformats.org/drawingml/2006/main" noGrp="1"/>
          </p:cNvSpPr>
          <p:nvPr/>
        </p:nvSpPr>
        <p:spPr>
          <a:xfrm xmlns:a="http://schemas.openxmlformats.org/drawingml/2006/main">
            <a:off x="8543925" y="216217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69A2"/>
                </a:solidFill>
                <a:latin typeface="Arial"/>
                <a:ea typeface="Arial"/>
                <a:cs typeface="Arial"/>
              </a:defRPr>
            </a:pPr>
            <a:r>
              <a:rPr sz="1800" b="1">
                <a:solidFill>
                  <a:srgbClr val="1469A2"/>
                </a:solidFill>
                <a:latin typeface="Arial"/>
                <a:ea typeface="Arial"/>
                <a:cs typeface="Arial"/>
              </a:rPr>
              <a:t>RECON_ATG_TRN</a:t>
            </a:r>
          </a:p>
        </p:txBody>
      </p:sp>
      <p:sp>
        <p:nvSpPr>
          <p:cNvPr id="11" name="">
            <a:extLst xmlns:a="http://schemas.openxmlformats.org/drawingml/2006/main">
              <a:ext uri="{FF2B5EF4-FFF2-40B4-BE49-F238E27FC236}">
                <a16:creationId xmlns:a16="http://schemas.microsoft.com/office/drawing/2014/main" id="{17C818C9-400D-4A5E-8B34-70A357C5E8B6}"/>
              </a:ext>
            </a:extLst>
          </p:cNvPr>
          <p:cNvSpPr>
            <a:spLocks xmlns:a="http://schemas.openxmlformats.org/drawingml/2006/main" noGrp="1"/>
          </p:cNvSpPr>
          <p:nvPr/>
        </p:nvSpPr>
        <p:spPr>
          <a:xfrm xmlns:a="http://schemas.openxmlformats.org/drawingml/2006/main">
            <a:off x="8543925" y="2543175"/>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D43"/>
                </a:solidFill>
                <a:latin typeface="Arial"/>
                <a:ea typeface="Arial"/>
                <a:cs typeface="Arial"/>
              </a:defRPr>
            </a:pPr>
            <a:r>
              <a:rPr sz="1575" b="0">
                <a:solidFill>
                  <a:srgbClr val="142D43"/>
                </a:solidFill>
                <a:latin typeface="Arial"/>
                <a:ea typeface="Arial"/>
                <a:cs typeface="Arial"/>
              </a:rPr>
              <a:t>Physical result tables</a:t>
            </a:r>
          </a:p>
        </p:txBody>
      </p:sp>
      <p:sp>
        <p:nvSpPr>
          <p:cNvPr id="14" name="">
            <a:extLst xmlns:a="http://schemas.openxmlformats.org/drawingml/2006/main">
              <a:ext uri="{FF2B5EF4-FFF2-40B4-BE49-F238E27FC236}">
                <a16:creationId xmlns:a16="http://schemas.microsoft.com/office/drawing/2014/main" id="{7051FEF6-44F1-44C4-B5BF-7BFB7BCCD338}"/>
              </a:ext>
            </a:extLst>
          </p:cNvPr>
          <p:cNvSpPr>
            <a:spLocks xmlns:a="http://schemas.openxmlformats.org/drawingml/2006/main" noGrp="1"/>
          </p:cNvSpPr>
          <p:nvPr/>
        </p:nvSpPr>
        <p:spPr>
          <a:xfrm xmlns:a="http://schemas.openxmlformats.org/drawingml/2006/main">
            <a:off x="647700" y="38290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D43"/>
                </a:solidFill>
                <a:latin typeface="Arial"/>
                <a:ea typeface="Arial"/>
                <a:cs typeface="Arial"/>
              </a:defRPr>
            </a:pPr>
            <a:r>
              <a:rPr sz="2325" b="1">
                <a:solidFill>
                  <a:srgbClr val="142D43"/>
                </a:solidFill>
                <a:latin typeface="Arial"/>
                <a:ea typeface="Arial"/>
                <a:cs typeface="Arial"/>
              </a:rPr>
              <a:t>Recurring execution</a:t>
            </a:r>
          </a:p>
        </p:txBody>
      </p:sp>
      <p:sp>
        <p:nvSpPr>
          <p:cNvPr id="15" name="">
            <a:extLst xmlns:a="http://schemas.openxmlformats.org/drawingml/2006/main">
              <a:ext uri="{FF2B5EF4-FFF2-40B4-BE49-F238E27FC236}">
                <a16:creationId xmlns:a16="http://schemas.microsoft.com/office/drawing/2014/main" id="{71924439-C34A-4D4A-BA5C-9C6E8838C411}"/>
              </a:ext>
            </a:extLst>
          </p:cNvPr>
          <p:cNvSpPr>
            <a:spLocks xmlns:a="http://schemas.openxmlformats.org/drawingml/2006/main" noGrp="1"/>
          </p:cNvSpPr>
          <p:nvPr/>
        </p:nvSpPr>
        <p:spPr>
          <a:xfrm xmlns:a="http://schemas.openxmlformats.org/drawingml/2006/main">
            <a:off x="647700" y="4429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575"/>
                </a:solidFill>
                <a:latin typeface="Arial"/>
                <a:ea typeface="Arial"/>
                <a:cs typeface="Arial"/>
              </a:defRPr>
            </a:pPr>
            <a:r>
              <a:rPr sz="2175" b="0">
                <a:solidFill>
                  <a:srgbClr val="526575"/>
                </a:solidFill>
                <a:latin typeface="Arial"/>
                <a:ea typeface="Arial"/>
                <a:cs typeface="Arial"/>
              </a:rPr>
              <a:t>Each run materializes the comparison output for reporting.</a:t>
            </a:r>
          </a:p>
        </p:txBody>
      </p:sp>
      <p:sp>
        <p:nvSpPr>
          <p:cNvPr id="16" name="">
            <a:extLst xmlns:a="http://schemas.openxmlformats.org/drawingml/2006/main">
              <a:ext uri="{FF2B5EF4-FFF2-40B4-BE49-F238E27FC236}">
                <a16:creationId xmlns:a16="http://schemas.microsoft.com/office/drawing/2014/main" id="{517CF44A-CE35-4724-8797-E5B31F425A05}"/>
              </a:ext>
            </a:extLst>
          </p:cNvPr>
          <p:cNvSpPr>
            <a:spLocks xmlns:a="http://schemas.openxmlformats.org/drawingml/2006/main" noGrp="1"/>
          </p:cNvSpPr>
          <p:nvPr/>
        </p:nvSpPr>
        <p:spPr>
          <a:xfrm xmlns:a="http://schemas.openxmlformats.org/drawingml/2006/main">
            <a:off x="647700" y="56292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7F78"/>
                </a:solidFill>
                <a:latin typeface="Arial"/>
                <a:ea typeface="Arial"/>
                <a:cs typeface="Arial"/>
              </a:defRPr>
            </a:pPr>
            <a:r>
              <a:rPr sz="1875" b="0">
                <a:solidFill>
                  <a:srgbClr val="007F78"/>
                </a:solidFill>
                <a:latin typeface="Arial"/>
                <a:ea typeface="Arial"/>
                <a:cs typeface="Arial"/>
              </a:rPr>
              <a:t>Discussion: input readiness, run frequency, retries, and result history</a:t>
            </a:r>
          </a:p>
        </p:txBody>
      </p:sp>
    </p:spTree>
    <p:extLst>
      <p:ext uri="{BB962C8B-B14F-4D97-AF65-F5344CB8AC3E}">
        <p14:creationId xmlns:p14="http://schemas.microsoft.com/office/powerpoint/2010/main" val="18404079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CFCE44-7330-4089-BE1F-F922062FCB38}"/>
              </a:ext>
            </a:extLst>
          </p:cNvPr>
          <p:cNvSpPr>
            <a:spLocks xmlns:a="http://schemas.openxmlformats.org/drawingml/2006/main" noGrp="1"/>
          </p:cNvSpPr>
          <p:nvPr/>
        </p:nvSpPr>
        <p:spPr>
          <a:xfrm xmlns:a="http://schemas.openxmlformats.org/drawingml/2006/main">
            <a:off x="6096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3"/>
                </a:solidFill>
                <a:latin typeface="Arial"/>
                <a:ea typeface="Arial"/>
                <a:cs typeface="Arial"/>
              </a:defRPr>
            </a:pPr>
            <a:r>
              <a:rPr sz="3300" b="1">
                <a:solidFill>
                  <a:srgbClr val="142D43"/>
                </a:solidFill>
                <a:latin typeface="Arial"/>
                <a:ea typeface="Arial"/>
                <a:cs typeface="Arial"/>
              </a:rPr>
              <a:t>Power BI report and demo walkthrough</a:t>
            </a:r>
          </a:p>
        </p:txBody>
      </p:sp>
      <p:sp>
        <p:nvSpPr>
          <p:cNvPr id="2" name="">
            <a:extLst xmlns:a="http://schemas.openxmlformats.org/drawingml/2006/main">
              <a:ext uri="{FF2B5EF4-FFF2-40B4-BE49-F238E27FC236}">
                <a16:creationId xmlns:a16="http://schemas.microsoft.com/office/drawing/2014/main" id="{0E772E13-95E0-4DCF-8DB0-52461535BB5F}"/>
              </a:ext>
            </a:extLst>
          </p:cNvPr>
          <p:cNvSpPr>
            <a:spLocks xmlns:a="http://schemas.openxmlformats.org/drawingml/2006/main" noGrp="1"/>
          </p:cNvSpPr>
          <p:nvPr/>
        </p:nvSpPr>
        <p:spPr>
          <a:xfrm xmlns:a="http://schemas.openxmlformats.org/drawingml/2006/main">
            <a:off x="11144250" y="6315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0D56C4C-F58F-4F0E-91BB-8F84615B9E1D}"/>
              </a:ext>
            </a:extLst>
          </p:cNvPr>
          <p:cNvSpPr>
            <a:spLocks xmlns:a="http://schemas.openxmlformats.org/drawingml/2006/main" noGrp="1"/>
          </p:cNvSpPr>
          <p:nvPr/>
        </p:nvSpPr>
        <p:spPr>
          <a:xfrm xmlns:a="http://schemas.openxmlformats.org/drawingml/2006/main">
            <a:off x="647700" y="14097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69A2"/>
                </a:solidFill>
                <a:latin typeface="Arial"/>
                <a:ea typeface="Arial"/>
                <a:cs typeface="Arial"/>
              </a:defRPr>
            </a:pPr>
            <a:r>
              <a:rPr sz="2250" b="1">
                <a:solidFill>
                  <a:srgbClr val="1469A2"/>
                </a:solidFill>
                <a:latin typeface="Arial"/>
                <a:ea typeface="Arial"/>
                <a:cs typeface="Arial"/>
              </a:rPr>
              <a:t>Report source: RECON_ATG_TRN physical tables</a:t>
            </a:r>
          </a:p>
        </p:txBody>
      </p:sp>
      <p:sp>
        <p:nvSpPr>
          <p:cNvPr id="4" name="">
            <a:extLst xmlns:a="http://schemas.openxmlformats.org/drawingml/2006/main">
              <a:ext uri="{FF2B5EF4-FFF2-40B4-BE49-F238E27FC236}">
                <a16:creationId xmlns:a16="http://schemas.microsoft.com/office/drawing/2014/main" id="{26DC5A9A-D462-4481-84E2-F137ED4F23B5}"/>
              </a:ext>
            </a:extLst>
          </p:cNvPr>
          <p:cNvSpPr>
            <a:spLocks xmlns:a="http://schemas.openxmlformats.org/drawingml/2006/main" noGrp="1"/>
          </p:cNvSpPr>
          <p:nvPr/>
        </p:nvSpPr>
        <p:spPr>
          <a:xfrm xmlns:a="http://schemas.openxmlformats.org/drawingml/2006/main">
            <a:off x="628650" y="2333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CE0CB04-D1AF-49F5-B65A-6829C6B46E2F}"/>
              </a:ext>
            </a:extLst>
          </p:cNvPr>
          <p:cNvSpPr>
            <a:spLocks xmlns:a="http://schemas.openxmlformats.org/drawingml/2006/main" noGrp="1"/>
          </p:cNvSpPr>
          <p:nvPr/>
        </p:nvSpPr>
        <p:spPr>
          <a:xfrm xmlns:a="http://schemas.openxmlformats.org/drawingml/2006/main">
            <a:off x="1381125" y="2333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Show table coverage</a:t>
            </a:r>
          </a:p>
        </p:txBody>
      </p:sp>
      <p:sp>
        <p:nvSpPr>
          <p:cNvPr id="6" name="">
            <a:extLst xmlns:a="http://schemas.openxmlformats.org/drawingml/2006/main">
              <a:ext uri="{FF2B5EF4-FFF2-40B4-BE49-F238E27FC236}">
                <a16:creationId xmlns:a16="http://schemas.microsoft.com/office/drawing/2014/main" id="{E32F6B64-F6CC-4692-A0E8-3005124E304E}"/>
              </a:ext>
            </a:extLst>
          </p:cNvPr>
          <p:cNvSpPr>
            <a:spLocks xmlns:a="http://schemas.openxmlformats.org/drawingml/2006/main" noGrp="1"/>
          </p:cNvSpPr>
          <p:nvPr/>
        </p:nvSpPr>
        <p:spPr>
          <a:xfrm xmlns:a="http://schemas.openxmlformats.org/drawingml/2006/main">
            <a:off x="1381125" y="280035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TRN_HDR, TRN_CASH_POST, and TRN_TRD</a:t>
            </a:r>
          </a:p>
        </p:txBody>
      </p:sp>
      <p:sp>
        <p:nvSpPr>
          <p:cNvPr id="7" name="">
            <a:extLst xmlns:a="http://schemas.openxmlformats.org/drawingml/2006/main">
              <a:ext uri="{FF2B5EF4-FFF2-40B4-BE49-F238E27FC236}">
                <a16:creationId xmlns:a16="http://schemas.microsoft.com/office/drawing/2014/main" id="{B344B836-5978-466A-B905-B357B6F30BD4}"/>
              </a:ext>
            </a:extLst>
          </p:cNvPr>
          <p:cNvSpPr>
            <a:spLocks xmlns:a="http://schemas.openxmlformats.org/drawingml/2006/main" noGrp="1"/>
          </p:cNvSpPr>
          <p:nvPr/>
        </p:nvSpPr>
        <p:spPr>
          <a:xfrm xmlns:a="http://schemas.openxmlformats.org/drawingml/2006/main">
            <a:off x="628650" y="36671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FCEF7EB-CC6E-46E2-8476-ABBCD1ED5D2E}"/>
              </a:ext>
            </a:extLst>
          </p:cNvPr>
          <p:cNvSpPr>
            <a:spLocks xmlns:a="http://schemas.openxmlformats.org/drawingml/2006/main" noGrp="1"/>
          </p:cNvSpPr>
          <p:nvPr/>
        </p:nvSpPr>
        <p:spPr>
          <a:xfrm xmlns:a="http://schemas.openxmlformats.org/drawingml/2006/main">
            <a:off x="1381125" y="36671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Explain the three result types</a:t>
            </a:r>
          </a:p>
        </p:txBody>
      </p:sp>
      <p:sp>
        <p:nvSpPr>
          <p:cNvPr id="9" name="">
            <a:extLst xmlns:a="http://schemas.openxmlformats.org/drawingml/2006/main">
              <a:ext uri="{FF2B5EF4-FFF2-40B4-BE49-F238E27FC236}">
                <a16:creationId xmlns:a16="http://schemas.microsoft.com/office/drawing/2014/main" id="{F2B9B575-EDA7-4E9E-9070-0C445D7F96BD}"/>
              </a:ext>
            </a:extLst>
          </p:cNvPr>
          <p:cNvSpPr>
            <a:spLocks xmlns:a="http://schemas.openxmlformats.org/drawingml/2006/main" noGrp="1"/>
          </p:cNvSpPr>
          <p:nvPr/>
        </p:nvSpPr>
        <p:spPr>
          <a:xfrm xmlns:a="http://schemas.openxmlformats.org/drawingml/2006/main">
            <a:off x="1381125" y="413385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Show prepared matched, mismatched, and missing examples where available.</a:t>
            </a:r>
          </a:p>
        </p:txBody>
      </p:sp>
      <p:sp>
        <p:nvSpPr>
          <p:cNvPr id="10" name="">
            <a:extLst xmlns:a="http://schemas.openxmlformats.org/drawingml/2006/main">
              <a:ext uri="{FF2B5EF4-FFF2-40B4-BE49-F238E27FC236}">
                <a16:creationId xmlns:a16="http://schemas.microsoft.com/office/drawing/2014/main" id="{A6A4F31D-1B9E-4CAE-8043-6AEB784A53E0}"/>
              </a:ext>
            </a:extLst>
          </p:cNvPr>
          <p:cNvSpPr>
            <a:spLocks xmlns:a="http://schemas.openxmlformats.org/drawingml/2006/main" noGrp="1"/>
          </p:cNvSpPr>
          <p:nvPr/>
        </p:nvSpPr>
        <p:spPr>
          <a:xfrm xmlns:a="http://schemas.openxmlformats.org/drawingml/2006/main">
            <a:off x="628650" y="5000625"/>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A8D8692-8F1A-4B44-8684-B023A56B3D59}"/>
              </a:ext>
            </a:extLst>
          </p:cNvPr>
          <p:cNvSpPr>
            <a:spLocks xmlns:a="http://schemas.openxmlformats.org/drawingml/2006/main" noGrp="1"/>
          </p:cNvSpPr>
          <p:nvPr/>
        </p:nvSpPr>
        <p:spPr>
          <a:xfrm xmlns:a="http://schemas.openxmlformats.org/drawingml/2006/main">
            <a:off x="1381125" y="50006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Trace one transaction</a:t>
            </a:r>
          </a:p>
        </p:txBody>
      </p:sp>
      <p:sp>
        <p:nvSpPr>
          <p:cNvPr id="12" name="">
            <a:extLst xmlns:a="http://schemas.openxmlformats.org/drawingml/2006/main">
              <a:ext uri="{FF2B5EF4-FFF2-40B4-BE49-F238E27FC236}">
                <a16:creationId xmlns:a16="http://schemas.microsoft.com/office/drawing/2014/main" id="{D3C508A2-01CB-47BD-B52D-32A6C8DD4D09}"/>
              </a:ext>
            </a:extLst>
          </p:cNvPr>
          <p:cNvSpPr>
            <a:spLocks xmlns:a="http://schemas.openxmlformats.org/drawingml/2006/main" noGrp="1"/>
          </p:cNvSpPr>
          <p:nvPr/>
        </p:nvSpPr>
        <p:spPr>
          <a:xfrm xmlns:a="http://schemas.openxmlformats.org/drawingml/2006/main">
            <a:off x="1381125" y="546735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Connect the report result to the FBN and GMR physical inputs.</a:t>
            </a:r>
          </a:p>
        </p:txBody>
      </p:sp>
    </p:spTree>
    <p:extLst>
      <p:ext uri="{BB962C8B-B14F-4D97-AF65-F5344CB8AC3E}">
        <p14:creationId xmlns:p14="http://schemas.microsoft.com/office/powerpoint/2010/main" val="11564368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F3D4DE-9617-4992-96AC-BDA28C272CBB}"/>
              </a:ext>
            </a:extLst>
          </p:cNvPr>
          <p:cNvSpPr>
            <a:spLocks xmlns:a="http://schemas.openxmlformats.org/drawingml/2006/main" noGrp="1"/>
          </p:cNvSpPr>
          <p:nvPr/>
        </p:nvSpPr>
        <p:spPr>
          <a:xfrm xmlns:a="http://schemas.openxmlformats.org/drawingml/2006/main">
            <a:off x="609600" y="4000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D43"/>
                </a:solidFill>
                <a:latin typeface="Arial"/>
                <a:ea typeface="Arial"/>
                <a:cs typeface="Arial"/>
              </a:defRPr>
            </a:pPr>
            <a:r>
              <a:rPr sz="3300" b="1">
                <a:solidFill>
                  <a:srgbClr val="142D43"/>
                </a:solidFill>
                <a:latin typeface="Arial"/>
                <a:ea typeface="Arial"/>
                <a:cs typeface="Arial"/>
              </a:rPr>
              <a:t>Key takeaways and team discussion</a:t>
            </a:r>
          </a:p>
        </p:txBody>
      </p:sp>
      <p:sp>
        <p:nvSpPr>
          <p:cNvPr id="2" name="">
            <a:extLst xmlns:a="http://schemas.openxmlformats.org/drawingml/2006/main">
              <a:ext uri="{FF2B5EF4-FFF2-40B4-BE49-F238E27FC236}">
                <a16:creationId xmlns:a16="http://schemas.microsoft.com/office/drawing/2014/main" id="{12F50CEA-E7FA-4084-BCB5-ED793AA05134}"/>
              </a:ext>
            </a:extLst>
          </p:cNvPr>
          <p:cNvSpPr>
            <a:spLocks xmlns:a="http://schemas.openxmlformats.org/drawingml/2006/main" noGrp="1"/>
          </p:cNvSpPr>
          <p:nvPr/>
        </p:nvSpPr>
        <p:spPr>
          <a:xfrm xmlns:a="http://schemas.openxmlformats.org/drawingml/2006/main">
            <a:off x="11144250" y="63150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Arial"/>
                <a:ea typeface="Arial"/>
                <a:cs typeface="Arial"/>
              </a:defRPr>
            </a:pPr>
            <a:r>
              <a:rPr sz="1350" b="0">
                <a:solidFill>
                  <a:srgbClr val="52657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52BCADB-E435-4547-AFDD-B8F06CF2747D}"/>
              </a:ext>
            </a:extLst>
          </p:cNvPr>
          <p:cNvSpPr>
            <a:spLocks xmlns:a="http://schemas.openxmlformats.org/drawingml/2006/main" noGrp="1"/>
          </p:cNvSpPr>
          <p:nvPr/>
        </p:nvSpPr>
        <p:spPr>
          <a:xfrm xmlns:a="http://schemas.openxmlformats.org/drawingml/2006/main">
            <a:off x="647700" y="14859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69A2"/>
                </a:solidFill>
                <a:latin typeface="Arial"/>
                <a:ea typeface="Arial"/>
                <a:cs typeface="Arial"/>
              </a:defRPr>
            </a:pPr>
            <a:r>
              <a:rPr sz="3000" b="1">
                <a:solidFill>
                  <a:srgbClr val="1469A2"/>
                </a:solidFill>
                <a:latin typeface="Arial"/>
                <a:ea typeface="Arial"/>
                <a:cs typeface="Arial"/>
              </a:rPr>
              <a:t>Two persisted inputs. One comparison and reporting flow.</a:t>
            </a:r>
          </a:p>
        </p:txBody>
      </p:sp>
      <p:sp>
        <p:nvSpPr>
          <p:cNvPr id="4" name="">
            <a:extLst xmlns:a="http://schemas.openxmlformats.org/drawingml/2006/main">
              <a:ext uri="{FF2B5EF4-FFF2-40B4-BE49-F238E27FC236}">
                <a16:creationId xmlns:a16="http://schemas.microsoft.com/office/drawing/2014/main" id="{5B104972-1194-4BD0-A7D2-416EECBE09FA}"/>
              </a:ext>
            </a:extLst>
          </p:cNvPr>
          <p:cNvSpPr>
            <a:spLocks xmlns:a="http://schemas.openxmlformats.org/drawingml/2006/main" noGrp="1"/>
          </p:cNvSpPr>
          <p:nvPr/>
        </p:nvSpPr>
        <p:spPr>
          <a:xfrm xmlns:a="http://schemas.openxmlformats.org/drawingml/2006/main">
            <a:off x="647700" y="2857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ATG views and FBN scheduling supply FBN_TRN.</a:t>
            </a:r>
          </a:p>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Existing writeback maintains GMR_TRN.</a:t>
            </a:r>
          </a:p>
        </p:txBody>
      </p:sp>
      <p:sp>
        <p:nvSpPr>
          <p:cNvPr id="5" name="">
            <a:extLst xmlns:a="http://schemas.openxmlformats.org/drawingml/2006/main">
              <a:ext uri="{FF2B5EF4-FFF2-40B4-BE49-F238E27FC236}">
                <a16:creationId xmlns:a16="http://schemas.microsoft.com/office/drawing/2014/main" id="{51DCA9FD-9A79-42BD-9E6B-C096FEA52461}"/>
              </a:ext>
            </a:extLst>
          </p:cNvPr>
          <p:cNvSpPr>
            <a:spLocks xmlns:a="http://schemas.openxmlformats.org/drawingml/2006/main" noGrp="1"/>
          </p:cNvSpPr>
          <p:nvPr/>
        </p:nvSpPr>
        <p:spPr>
          <a:xfrm xmlns:a="http://schemas.openxmlformats.org/drawingml/2006/main">
            <a:off x="647700" y="4095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Recon views classify results. The Recon scheduler persists them.</a:t>
            </a:r>
          </a:p>
          <a:p xmlns:a="http://schemas.openxmlformats.org/drawingml/2006/main">
            <a:pPr>
              <a:defRPr sz="2175" b="0">
                <a:solidFill>
                  <a:srgbClr val="142D43"/>
                </a:solidFill>
                <a:latin typeface="Arial"/>
                <a:ea typeface="Arial"/>
                <a:cs typeface="Arial"/>
              </a:defRPr>
            </a:pPr>
            <a:r>
              <a:rPr sz="2175" b="0">
                <a:solidFill>
                  <a:srgbClr val="142D43"/>
                </a:solidFill>
                <a:latin typeface="Arial"/>
                <a:ea typeface="Arial"/>
                <a:cs typeface="Arial"/>
              </a:rPr>
              <a:t>Power BI presents reconciliation by transaction table.</a:t>
            </a:r>
          </a:p>
        </p:txBody>
      </p:sp>
      <p:sp>
        <p:nvSpPr>
          <p:cNvPr id="6" name="">
            <a:extLst xmlns:a="http://schemas.openxmlformats.org/drawingml/2006/main">
              <a:ext uri="{FF2B5EF4-FFF2-40B4-BE49-F238E27FC236}">
                <a16:creationId xmlns:a16="http://schemas.microsoft.com/office/drawing/2014/main" id="{B3E319CB-A0B8-43CB-A5D9-06756FDC52E2}"/>
              </a:ext>
            </a:extLst>
          </p:cNvPr>
          <p:cNvSpPr>
            <a:spLocks xmlns:a="http://schemas.openxmlformats.org/drawingml/2006/main" noGrp="1"/>
          </p:cNvSpPr>
          <p:nvPr/>
        </p:nvSpPr>
        <p:spPr>
          <a:xfrm xmlns:a="http://schemas.openxmlformats.org/drawingml/2006/main">
            <a:off x="647700" y="5619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Team discussion: matching rules, timing, and exception ownership</a:t>
            </a:r>
          </a:p>
        </p:txBody>
      </p:sp>
    </p:spTree>
    <p:extLst>
      <p:ext uri="{BB962C8B-B14F-4D97-AF65-F5344CB8AC3E}">
        <p14:creationId xmlns:p14="http://schemas.microsoft.com/office/powerpoint/2010/main" val="687496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2026-09-24T12:03:32.0480000Z</dcterms:created>
  <dcterms:modified xsi:type="dcterms:W3CDTF">2026-09-24T12:03:32.0480000Z</dcterms:modified>
</coreProperties>
</file>